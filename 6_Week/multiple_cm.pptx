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1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A34D9B-9253-0A3C-01D9-756097E71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FD8E56B-7064-D493-3B8D-B439A3BD9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9646A54-80BE-E410-1D2C-0338DFC98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E2AB-C490-40C0-BDC5-C39AE4D8B3DF}" type="datetimeFigureOut">
              <a:rPr lang="tr-TR" smtClean="0"/>
              <a:t>20.10.2025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ABB096-ECD1-6E87-A26D-1E74D045A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DF78919-74E3-21BD-615F-68F59BD07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FBC4-7915-4822-A220-4A85B3663A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3734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551CADB-8C09-5E2B-12E7-08555D53F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B389819-76B4-1962-5592-7FA7C4FBA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5530464-1DCA-6C93-86C1-4C9FF7A41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E2AB-C490-40C0-BDC5-C39AE4D8B3DF}" type="datetimeFigureOut">
              <a:rPr lang="tr-TR" smtClean="0"/>
              <a:t>20.10.2025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099EC11-0D3B-6F11-0278-DDD489F3D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91766F8-E85D-935C-193C-AFF99B73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FBC4-7915-4822-A220-4A85B3663A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7065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892B61-0CBF-036F-4D8C-A05F9AD25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2F29423-5A65-669E-3F5D-AAD44F5A8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E392658-3E64-B9FA-0CEC-8994CB468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E2AB-C490-40C0-BDC5-C39AE4D8B3DF}" type="datetimeFigureOut">
              <a:rPr lang="tr-TR" smtClean="0"/>
              <a:t>20.10.2025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E0488BF-B210-6C5F-547A-1C61313B9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BA92148-3F7A-03DA-1D31-5BA85FEEB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FBC4-7915-4822-A220-4A85B3663A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1420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7F9BE2-FE00-ADA4-8F17-F7A536CE0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B67D921-28D9-94DC-D8CE-A6FCA40C3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92E0C57-393E-D02B-E578-6FED47B60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2D6F693-9E14-0EA0-53B1-CF48A96EC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E2AB-C490-40C0-BDC5-C39AE4D8B3DF}" type="datetimeFigureOut">
              <a:rPr lang="tr-TR" smtClean="0"/>
              <a:t>20.10.2025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4C2D7AA-733E-FE6E-5AB7-C53B5554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E31FA35-7D58-877E-A575-DF512A4B0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FBC4-7915-4822-A220-4A85B3663A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138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D15C14-C34E-7B99-DF95-F3557D408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2174167-2115-9C89-A03E-340CCEF5A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8E2D447-9DB0-F582-1EF0-FDE762837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68D6476C-6443-A704-DBE0-9556F7A62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58CE16F-50DF-E418-18D3-D13103F2B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E00E760-B794-DF3E-8633-5D3717173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E2AB-C490-40C0-BDC5-C39AE4D8B3DF}" type="datetimeFigureOut">
              <a:rPr lang="tr-TR" smtClean="0"/>
              <a:t>20.10.2025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FFB601CD-5B18-42A5-831C-261919B3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07F9040-FD19-CFD0-0ECC-548524C6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FBC4-7915-4822-A220-4A85B3663A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4845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958328-DD36-35A3-17C8-4875382A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BFEC88C-F834-02C1-A313-E0201939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E2AB-C490-40C0-BDC5-C39AE4D8B3DF}" type="datetimeFigureOut">
              <a:rPr lang="tr-TR" smtClean="0"/>
              <a:t>20.10.2025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FD1E38DC-F9E9-87E2-D007-45EB33249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E743879-96FD-56AC-46B8-3C880F13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FBC4-7915-4822-A220-4A85B3663A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6267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79E37AF-04AD-7DC7-A0CB-5747E6FC8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E2AB-C490-40C0-BDC5-C39AE4D8B3DF}" type="datetimeFigureOut">
              <a:rPr lang="tr-TR" smtClean="0"/>
              <a:t>20.10.2025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85D5D624-AAEB-27C3-42FF-D64AE843A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2D4454F-2697-4D50-942B-55985DA94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FBC4-7915-4822-A220-4A85B3663A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589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2549C2-EB73-4764-078D-EBAAB77F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0A80B4-B3E6-1563-8276-C60B10847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B4FE7D0-A771-0E05-81E0-2DB7D7F21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D674284-972B-40E4-FD9A-5DC5BA00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E2AB-C490-40C0-BDC5-C39AE4D8B3DF}" type="datetimeFigureOut">
              <a:rPr lang="tr-TR" smtClean="0"/>
              <a:t>20.10.2025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C94E926-465A-C4CE-C2BE-765B74123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AE601AA-33A8-3704-7E5C-3230A1199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FBC4-7915-4822-A220-4A85B3663A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2162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A11966-F963-71A4-86F5-B029BD67B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DF38C8A1-2113-7569-925E-649131AE5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5B47DD5-CF74-A75F-6CD6-2A5B3B02B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89B13C0-E1EC-E539-ACC0-316801BE3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E2AB-C490-40C0-BDC5-C39AE4D8B3DF}" type="datetimeFigureOut">
              <a:rPr lang="tr-TR" smtClean="0"/>
              <a:t>20.10.2025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C3E600A-6161-A6B7-57E9-57AC730B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DA722E2-E5BD-36B2-4049-DBE83F48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FBC4-7915-4822-A220-4A85B3663A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368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E678D9-F3B4-02A3-5C03-10591AAE1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D820FE51-80B4-5A58-7969-B9EB9A834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49B8E6B-DE53-5729-1B2E-9F93BBE25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E2AB-C490-40C0-BDC5-C39AE4D8B3DF}" type="datetimeFigureOut">
              <a:rPr lang="tr-TR" smtClean="0"/>
              <a:t>20.10.2025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8006E24-4EF1-4E4F-D833-705CE8C5F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C8D19B1-0D26-ED9F-4487-B8E1C5A4F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FBC4-7915-4822-A220-4A85B3663A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8392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FA1EBE3C-3A4B-EAD6-8255-69E470372C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201BF4A-821E-1B28-9A55-82899135B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68925A1-37F4-34CB-B3BF-DE436AFB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E2AB-C490-40C0-BDC5-C39AE4D8B3DF}" type="datetimeFigureOut">
              <a:rPr lang="tr-TR" smtClean="0"/>
              <a:t>20.10.2025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6DD3E42-8E99-9B09-F71C-F020BEDF7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8F7A9F5-67B1-77F2-92FC-145DDF4EC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FBC4-7915-4822-A220-4A85B3663A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702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865559C9-AAC9-C941-04E4-65E2A7923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23FED0C-5F7B-6CD8-D531-43EC45AA5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A0E79F9-4B9F-0B20-EB19-DEEA435536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8E2AB-C490-40C0-BDC5-C39AE4D8B3DF}" type="datetimeFigureOut">
              <a:rPr lang="tr-TR" smtClean="0"/>
              <a:t>20.10.2025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E37689A-5BFC-CC86-87AF-9946CCC49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2E1E57B-ADEB-6535-FCA3-ED482E7B4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23FBC4-7915-4822-A220-4A85B3663A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65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9677B5F3-03E0-CAE3-4523-31E6A537D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226302"/>
              </p:ext>
            </p:extLst>
          </p:nvPr>
        </p:nvGraphicFramePr>
        <p:xfrm>
          <a:off x="3285924" y="2280912"/>
          <a:ext cx="5620151" cy="2296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0747">
                  <a:extLst>
                    <a:ext uri="{9D8B030D-6E8A-4147-A177-3AD203B41FA5}">
                      <a16:colId xmlns:a16="http://schemas.microsoft.com/office/drawing/2014/main" val="1751931721"/>
                    </a:ext>
                  </a:extLst>
                </a:gridCol>
                <a:gridCol w="1366468">
                  <a:extLst>
                    <a:ext uri="{9D8B030D-6E8A-4147-A177-3AD203B41FA5}">
                      <a16:colId xmlns:a16="http://schemas.microsoft.com/office/drawing/2014/main" val="2373839547"/>
                    </a:ext>
                  </a:extLst>
                </a:gridCol>
                <a:gridCol w="1366468">
                  <a:extLst>
                    <a:ext uri="{9D8B030D-6E8A-4147-A177-3AD203B41FA5}">
                      <a16:colId xmlns:a16="http://schemas.microsoft.com/office/drawing/2014/main" val="2351178802"/>
                    </a:ext>
                  </a:extLst>
                </a:gridCol>
                <a:gridCol w="1366468">
                  <a:extLst>
                    <a:ext uri="{9D8B030D-6E8A-4147-A177-3AD203B41FA5}">
                      <a16:colId xmlns:a16="http://schemas.microsoft.com/office/drawing/2014/main" val="578875541"/>
                    </a:ext>
                  </a:extLst>
                </a:gridCol>
              </a:tblGrid>
              <a:tr h="57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 dirty="0">
                          <a:effectLst/>
                        </a:rPr>
                        <a:t> </a:t>
                      </a:r>
                      <a:endParaRPr lang="tr-T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Diabet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Hypertension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Cholesterol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726041"/>
                  </a:ext>
                </a:extLst>
              </a:tr>
              <a:tr h="57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Diabet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 dirty="0">
                          <a:effectLst/>
                        </a:rPr>
                        <a:t>40</a:t>
                      </a:r>
                      <a:endParaRPr lang="tr-T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>
                          <a:effectLst/>
                        </a:rPr>
                        <a:t>8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>
                          <a:effectLst/>
                        </a:rPr>
                        <a:t>7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9195168"/>
                  </a:ext>
                </a:extLst>
              </a:tr>
              <a:tr h="57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Hypertension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>
                          <a:effectLst/>
                        </a:rPr>
                        <a:t>4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 dirty="0">
                          <a:effectLst/>
                        </a:rPr>
                        <a:t>35</a:t>
                      </a:r>
                      <a:endParaRPr lang="tr-T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 dirty="0">
                          <a:effectLst/>
                        </a:rPr>
                        <a:t>1</a:t>
                      </a:r>
                      <a:endParaRPr lang="tr-T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5053317"/>
                  </a:ext>
                </a:extLst>
              </a:tr>
              <a:tr h="57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Cholesterol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>
                          <a:effectLst/>
                        </a:rPr>
                        <a:t>2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>
                          <a:effectLst/>
                        </a:rPr>
                        <a:t>3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 dirty="0">
                          <a:effectLst/>
                        </a:rPr>
                        <a:t>45</a:t>
                      </a:r>
                      <a:endParaRPr lang="tr-T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8438432"/>
                  </a:ext>
                </a:extLst>
              </a:tr>
            </a:tbl>
          </a:graphicData>
        </a:graphic>
      </p:graphicFrame>
      <p:sp>
        <p:nvSpPr>
          <p:cNvPr id="6" name="Sağ Ayraç 5">
            <a:extLst>
              <a:ext uri="{FF2B5EF4-FFF2-40B4-BE49-F238E27FC236}">
                <a16:creationId xmlns:a16="http://schemas.microsoft.com/office/drawing/2014/main" id="{AD297748-7EF7-1A32-A82A-E898C36D5620}"/>
              </a:ext>
            </a:extLst>
          </p:cNvPr>
          <p:cNvSpPr/>
          <p:nvPr/>
        </p:nvSpPr>
        <p:spPr>
          <a:xfrm rot="16200000">
            <a:off x="6655057" y="-143088"/>
            <a:ext cx="294950" cy="4207091"/>
          </a:xfrm>
          <a:prstGeom prst="righ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11F6B17F-4590-28BF-B0CD-21A3C8339C64}"/>
              </a:ext>
            </a:extLst>
          </p:cNvPr>
          <p:cNvSpPr txBox="1"/>
          <p:nvPr/>
        </p:nvSpPr>
        <p:spPr>
          <a:xfrm>
            <a:off x="5904850" y="1443650"/>
            <a:ext cx="1879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Tahmin (</a:t>
            </a:r>
            <a:r>
              <a:rPr lang="tr-TR" b="1" dirty="0" err="1"/>
              <a:t>Predict</a:t>
            </a:r>
            <a:r>
              <a:rPr lang="tr-TR" b="1" dirty="0"/>
              <a:t>)</a:t>
            </a:r>
          </a:p>
        </p:txBody>
      </p:sp>
      <p:sp>
        <p:nvSpPr>
          <p:cNvPr id="8" name="Sağ Ayraç 7">
            <a:extLst>
              <a:ext uri="{FF2B5EF4-FFF2-40B4-BE49-F238E27FC236}">
                <a16:creationId xmlns:a16="http://schemas.microsoft.com/office/drawing/2014/main" id="{58EDC2A4-F138-6B0C-E59E-050F2EE0E3AD}"/>
              </a:ext>
            </a:extLst>
          </p:cNvPr>
          <p:cNvSpPr/>
          <p:nvPr/>
        </p:nvSpPr>
        <p:spPr>
          <a:xfrm rot="10800000">
            <a:off x="2822597" y="2849081"/>
            <a:ext cx="294950" cy="1728007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BEB744E4-B254-14F6-78D0-5C55765BAEA5}"/>
              </a:ext>
            </a:extLst>
          </p:cNvPr>
          <p:cNvSpPr txBox="1"/>
          <p:nvPr/>
        </p:nvSpPr>
        <p:spPr>
          <a:xfrm rot="16200000">
            <a:off x="1737363" y="3564982"/>
            <a:ext cx="1801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Gerçek (Actual)</a:t>
            </a:r>
          </a:p>
        </p:txBody>
      </p:sp>
    </p:spTree>
    <p:extLst>
      <p:ext uri="{BB962C8B-B14F-4D97-AF65-F5344CB8AC3E}">
        <p14:creationId xmlns:p14="http://schemas.microsoft.com/office/powerpoint/2010/main" val="239469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B3E55-4C36-B10A-6183-D0ED71C41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2889807D-40E9-83D3-6B88-E784CE865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901205"/>
              </p:ext>
            </p:extLst>
          </p:nvPr>
        </p:nvGraphicFramePr>
        <p:xfrm>
          <a:off x="918110" y="1132824"/>
          <a:ext cx="5620151" cy="2296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0747">
                  <a:extLst>
                    <a:ext uri="{9D8B030D-6E8A-4147-A177-3AD203B41FA5}">
                      <a16:colId xmlns:a16="http://schemas.microsoft.com/office/drawing/2014/main" val="1751931721"/>
                    </a:ext>
                  </a:extLst>
                </a:gridCol>
                <a:gridCol w="1366468">
                  <a:extLst>
                    <a:ext uri="{9D8B030D-6E8A-4147-A177-3AD203B41FA5}">
                      <a16:colId xmlns:a16="http://schemas.microsoft.com/office/drawing/2014/main" val="2373839547"/>
                    </a:ext>
                  </a:extLst>
                </a:gridCol>
                <a:gridCol w="1366468">
                  <a:extLst>
                    <a:ext uri="{9D8B030D-6E8A-4147-A177-3AD203B41FA5}">
                      <a16:colId xmlns:a16="http://schemas.microsoft.com/office/drawing/2014/main" val="2351178802"/>
                    </a:ext>
                  </a:extLst>
                </a:gridCol>
                <a:gridCol w="1366468">
                  <a:extLst>
                    <a:ext uri="{9D8B030D-6E8A-4147-A177-3AD203B41FA5}">
                      <a16:colId xmlns:a16="http://schemas.microsoft.com/office/drawing/2014/main" val="578875541"/>
                    </a:ext>
                  </a:extLst>
                </a:gridCol>
              </a:tblGrid>
              <a:tr h="57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>
                          <a:effectLst/>
                        </a:rPr>
                        <a:t> 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Diabet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Hypertension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Cholesterol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726041"/>
                  </a:ext>
                </a:extLst>
              </a:tr>
              <a:tr h="57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Diabet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40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7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9195168"/>
                  </a:ext>
                </a:extLst>
              </a:tr>
              <a:tr h="57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Hypertension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35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5053317"/>
                  </a:ext>
                </a:extLst>
              </a:tr>
              <a:tr h="57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Cholesterol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2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3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45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8438432"/>
                  </a:ext>
                </a:extLst>
              </a:tr>
            </a:tbl>
          </a:graphicData>
        </a:graphic>
      </p:graphicFrame>
      <p:sp>
        <p:nvSpPr>
          <p:cNvPr id="6" name="Sağ Ayraç 5">
            <a:extLst>
              <a:ext uri="{FF2B5EF4-FFF2-40B4-BE49-F238E27FC236}">
                <a16:creationId xmlns:a16="http://schemas.microsoft.com/office/drawing/2014/main" id="{E3B9C768-F159-1C65-7695-F906E8A4D001}"/>
              </a:ext>
            </a:extLst>
          </p:cNvPr>
          <p:cNvSpPr/>
          <p:nvPr/>
        </p:nvSpPr>
        <p:spPr>
          <a:xfrm rot="16200000">
            <a:off x="4287243" y="-1291176"/>
            <a:ext cx="294950" cy="4207091"/>
          </a:xfrm>
          <a:prstGeom prst="righ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63DC1BF1-3B29-0010-7823-AD4F1C58A415}"/>
              </a:ext>
            </a:extLst>
          </p:cNvPr>
          <p:cNvSpPr txBox="1"/>
          <p:nvPr/>
        </p:nvSpPr>
        <p:spPr>
          <a:xfrm>
            <a:off x="3537036" y="295562"/>
            <a:ext cx="1879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Tahmin (</a:t>
            </a:r>
            <a:r>
              <a:rPr lang="tr-TR" b="1" dirty="0" err="1"/>
              <a:t>Predict</a:t>
            </a:r>
            <a:r>
              <a:rPr lang="tr-TR" b="1" dirty="0"/>
              <a:t>)</a:t>
            </a:r>
          </a:p>
        </p:txBody>
      </p:sp>
      <p:sp>
        <p:nvSpPr>
          <p:cNvPr id="8" name="Sağ Ayraç 7">
            <a:extLst>
              <a:ext uri="{FF2B5EF4-FFF2-40B4-BE49-F238E27FC236}">
                <a16:creationId xmlns:a16="http://schemas.microsoft.com/office/drawing/2014/main" id="{EACA5AE4-028F-E1B5-F94B-7FD2E77AB8B1}"/>
              </a:ext>
            </a:extLst>
          </p:cNvPr>
          <p:cNvSpPr/>
          <p:nvPr/>
        </p:nvSpPr>
        <p:spPr>
          <a:xfrm rot="10800000">
            <a:off x="454783" y="1700993"/>
            <a:ext cx="294950" cy="1728007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5E26A33-7C8E-433D-6776-D0BD22BB1AE3}"/>
              </a:ext>
            </a:extLst>
          </p:cNvPr>
          <p:cNvSpPr txBox="1"/>
          <p:nvPr/>
        </p:nvSpPr>
        <p:spPr>
          <a:xfrm rot="16200000">
            <a:off x="-630451" y="2416894"/>
            <a:ext cx="1801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Gerçek (Actual)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7317FEB7-59D2-F154-A05C-38D75DDED61A}"/>
              </a:ext>
            </a:extLst>
          </p:cNvPr>
          <p:cNvSpPr txBox="1"/>
          <p:nvPr/>
        </p:nvSpPr>
        <p:spPr>
          <a:xfrm>
            <a:off x="454782" y="3869355"/>
            <a:ext cx="6647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TOPLAM ÖRNEK SAYISI </a:t>
            </a:r>
            <a:r>
              <a:rPr lang="tr-TR" dirty="0"/>
              <a:t>= 40 + 8 + 7 + 4 + 35 + 1 + 2 + 3 + 45 = </a:t>
            </a:r>
            <a:r>
              <a:rPr lang="tr-TR" b="1" dirty="0">
                <a:highlight>
                  <a:srgbClr val="FFFF00"/>
                </a:highlight>
              </a:rPr>
              <a:t>145</a:t>
            </a:r>
            <a:r>
              <a:rPr lang="tr-TR" dirty="0"/>
              <a:t> 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DE6915D-9ED2-E3F0-ABB5-AA80D6BBC6FB}"/>
              </a:ext>
            </a:extLst>
          </p:cNvPr>
          <p:cNvSpPr txBox="1"/>
          <p:nvPr/>
        </p:nvSpPr>
        <p:spPr>
          <a:xfrm>
            <a:off x="8105775" y="812369"/>
            <a:ext cx="1375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b="1" dirty="0"/>
              <a:t>DIABET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445CDFCA-911A-5B49-90D2-F53C59D10A1F}"/>
              </a:ext>
            </a:extLst>
          </p:cNvPr>
          <p:cNvSpPr txBox="1"/>
          <p:nvPr/>
        </p:nvSpPr>
        <p:spPr>
          <a:xfrm>
            <a:off x="8105775" y="2019300"/>
            <a:ext cx="9509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highlight>
                  <a:srgbClr val="FFFF00"/>
                </a:highlight>
              </a:rPr>
              <a:t>TP = 40</a:t>
            </a:r>
          </a:p>
          <a:p>
            <a:r>
              <a:rPr lang="tr-TR" b="1" dirty="0">
                <a:highlight>
                  <a:srgbClr val="00FF00"/>
                </a:highlight>
              </a:rPr>
              <a:t>FP = 6</a:t>
            </a:r>
          </a:p>
          <a:p>
            <a:r>
              <a:rPr lang="tr-TR" b="1" dirty="0">
                <a:highlight>
                  <a:srgbClr val="00FFFF"/>
                </a:highlight>
              </a:rPr>
              <a:t>FN = 15</a:t>
            </a:r>
          </a:p>
          <a:p>
            <a:r>
              <a:rPr lang="tr-TR" b="1" dirty="0">
                <a:highlight>
                  <a:srgbClr val="FF00FF"/>
                </a:highlight>
              </a:rPr>
              <a:t>TN = 84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BD9AF7B5-12AA-D2BF-AB86-F5F691FFDCAE}"/>
              </a:ext>
            </a:extLst>
          </p:cNvPr>
          <p:cNvSpPr/>
          <p:nvPr/>
        </p:nvSpPr>
        <p:spPr>
          <a:xfrm>
            <a:off x="2782528" y="1691782"/>
            <a:ext cx="638175" cy="549999"/>
          </a:xfrm>
          <a:prstGeom prst="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15B3D0B4-C4CA-FD24-4D6C-86E5BCD7EA81}"/>
              </a:ext>
            </a:extLst>
          </p:cNvPr>
          <p:cNvSpPr/>
          <p:nvPr/>
        </p:nvSpPr>
        <p:spPr>
          <a:xfrm>
            <a:off x="2782528" y="2299255"/>
            <a:ext cx="638175" cy="1072271"/>
          </a:xfrm>
          <a:prstGeom prst="rect">
            <a:avLst/>
          </a:prstGeom>
          <a:solidFill>
            <a:schemeClr val="accent6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A89BBE57-CF27-9EC1-51FD-BFC4C6319054}"/>
              </a:ext>
            </a:extLst>
          </p:cNvPr>
          <p:cNvSpPr/>
          <p:nvPr/>
        </p:nvSpPr>
        <p:spPr>
          <a:xfrm rot="16200000">
            <a:off x="4827605" y="877600"/>
            <a:ext cx="475581" cy="2256623"/>
          </a:xfrm>
          <a:prstGeom prst="rect">
            <a:avLst/>
          </a:prstGeom>
          <a:solidFill>
            <a:schemeClr val="accent4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B2374C09-4B50-54EF-804B-942A25912323}"/>
              </a:ext>
            </a:extLst>
          </p:cNvPr>
          <p:cNvSpPr/>
          <p:nvPr/>
        </p:nvSpPr>
        <p:spPr>
          <a:xfrm rot="16200000">
            <a:off x="4559765" y="1737582"/>
            <a:ext cx="1011263" cy="2256624"/>
          </a:xfrm>
          <a:prstGeom prst="rect">
            <a:avLst/>
          </a:prstGeom>
          <a:solidFill>
            <a:schemeClr val="accent5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102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allAtOnce"/>
      <p:bldP spid="14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988EA-960A-3422-58CE-B2F67FFD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8D66D1B8-6176-0EF6-6C1D-3F8AE85345C0}"/>
              </a:ext>
            </a:extLst>
          </p:cNvPr>
          <p:cNvGraphicFramePr>
            <a:graphicFrameLocks noGrp="1"/>
          </p:cNvGraphicFramePr>
          <p:nvPr/>
        </p:nvGraphicFramePr>
        <p:xfrm>
          <a:off x="918110" y="1132824"/>
          <a:ext cx="5620151" cy="2296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0747">
                  <a:extLst>
                    <a:ext uri="{9D8B030D-6E8A-4147-A177-3AD203B41FA5}">
                      <a16:colId xmlns:a16="http://schemas.microsoft.com/office/drawing/2014/main" val="1751931721"/>
                    </a:ext>
                  </a:extLst>
                </a:gridCol>
                <a:gridCol w="1366468">
                  <a:extLst>
                    <a:ext uri="{9D8B030D-6E8A-4147-A177-3AD203B41FA5}">
                      <a16:colId xmlns:a16="http://schemas.microsoft.com/office/drawing/2014/main" val="2373839547"/>
                    </a:ext>
                  </a:extLst>
                </a:gridCol>
                <a:gridCol w="1366468">
                  <a:extLst>
                    <a:ext uri="{9D8B030D-6E8A-4147-A177-3AD203B41FA5}">
                      <a16:colId xmlns:a16="http://schemas.microsoft.com/office/drawing/2014/main" val="2351178802"/>
                    </a:ext>
                  </a:extLst>
                </a:gridCol>
                <a:gridCol w="1366468">
                  <a:extLst>
                    <a:ext uri="{9D8B030D-6E8A-4147-A177-3AD203B41FA5}">
                      <a16:colId xmlns:a16="http://schemas.microsoft.com/office/drawing/2014/main" val="578875541"/>
                    </a:ext>
                  </a:extLst>
                </a:gridCol>
              </a:tblGrid>
              <a:tr h="57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>
                          <a:effectLst/>
                        </a:rPr>
                        <a:t> 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Diabet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Hypertension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Cholesterol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726041"/>
                  </a:ext>
                </a:extLst>
              </a:tr>
              <a:tr h="57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Diabet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40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7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9195168"/>
                  </a:ext>
                </a:extLst>
              </a:tr>
              <a:tr h="57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Hypertension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35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5053317"/>
                  </a:ext>
                </a:extLst>
              </a:tr>
              <a:tr h="57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Cholesterol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2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3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45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8438432"/>
                  </a:ext>
                </a:extLst>
              </a:tr>
            </a:tbl>
          </a:graphicData>
        </a:graphic>
      </p:graphicFrame>
      <p:sp>
        <p:nvSpPr>
          <p:cNvPr id="6" name="Sağ Ayraç 5">
            <a:extLst>
              <a:ext uri="{FF2B5EF4-FFF2-40B4-BE49-F238E27FC236}">
                <a16:creationId xmlns:a16="http://schemas.microsoft.com/office/drawing/2014/main" id="{1E4023D6-22B7-4FFC-1EED-344CBDAA4D9A}"/>
              </a:ext>
            </a:extLst>
          </p:cNvPr>
          <p:cNvSpPr/>
          <p:nvPr/>
        </p:nvSpPr>
        <p:spPr>
          <a:xfrm rot="16200000">
            <a:off x="4287243" y="-1291176"/>
            <a:ext cx="294950" cy="4207091"/>
          </a:xfrm>
          <a:prstGeom prst="righ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B1AE5F19-1798-181B-8539-6B3D70A3D0BD}"/>
              </a:ext>
            </a:extLst>
          </p:cNvPr>
          <p:cNvSpPr txBox="1"/>
          <p:nvPr/>
        </p:nvSpPr>
        <p:spPr>
          <a:xfrm>
            <a:off x="3537036" y="295562"/>
            <a:ext cx="1879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Tahmin (</a:t>
            </a:r>
            <a:r>
              <a:rPr lang="tr-TR" b="1" dirty="0" err="1"/>
              <a:t>Predict</a:t>
            </a:r>
            <a:r>
              <a:rPr lang="tr-TR" b="1" dirty="0"/>
              <a:t>)</a:t>
            </a:r>
          </a:p>
        </p:txBody>
      </p:sp>
      <p:sp>
        <p:nvSpPr>
          <p:cNvPr id="8" name="Sağ Ayraç 7">
            <a:extLst>
              <a:ext uri="{FF2B5EF4-FFF2-40B4-BE49-F238E27FC236}">
                <a16:creationId xmlns:a16="http://schemas.microsoft.com/office/drawing/2014/main" id="{5DAC0B8E-4087-AF03-B66A-91A2C247AAF2}"/>
              </a:ext>
            </a:extLst>
          </p:cNvPr>
          <p:cNvSpPr/>
          <p:nvPr/>
        </p:nvSpPr>
        <p:spPr>
          <a:xfrm rot="10800000">
            <a:off x="454783" y="1700993"/>
            <a:ext cx="294950" cy="1728007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B41E4620-48C7-7BEC-E4B5-D22EFDD67B09}"/>
              </a:ext>
            </a:extLst>
          </p:cNvPr>
          <p:cNvSpPr txBox="1"/>
          <p:nvPr/>
        </p:nvSpPr>
        <p:spPr>
          <a:xfrm rot="16200000">
            <a:off x="-630451" y="2416894"/>
            <a:ext cx="1801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Gerçek (Actual)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54539FF5-8C56-935B-BB58-06A68C5044F4}"/>
              </a:ext>
            </a:extLst>
          </p:cNvPr>
          <p:cNvSpPr txBox="1"/>
          <p:nvPr/>
        </p:nvSpPr>
        <p:spPr>
          <a:xfrm>
            <a:off x="454782" y="3869355"/>
            <a:ext cx="6647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TOPLAM ÖRNEK SAYISI </a:t>
            </a:r>
            <a:r>
              <a:rPr lang="tr-TR" dirty="0"/>
              <a:t>= 40 + 8 + 7 + 4 + 35 + 1 + 2 + 3 + 45 = </a:t>
            </a:r>
            <a:r>
              <a:rPr lang="tr-TR" b="1" dirty="0">
                <a:highlight>
                  <a:srgbClr val="FFFF00"/>
                </a:highlight>
              </a:rPr>
              <a:t>145</a:t>
            </a:r>
            <a:r>
              <a:rPr lang="tr-TR" dirty="0"/>
              <a:t> 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CFF51674-2E9D-CD79-56B8-A916E99F3EA9}"/>
              </a:ext>
            </a:extLst>
          </p:cNvPr>
          <p:cNvSpPr txBox="1"/>
          <p:nvPr/>
        </p:nvSpPr>
        <p:spPr>
          <a:xfrm>
            <a:off x="8105775" y="871214"/>
            <a:ext cx="2791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b="1" dirty="0"/>
              <a:t>HYPERTENSION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EFECAEF7-7F40-1891-6CA2-134897274FB2}"/>
              </a:ext>
            </a:extLst>
          </p:cNvPr>
          <p:cNvSpPr txBox="1"/>
          <p:nvPr/>
        </p:nvSpPr>
        <p:spPr>
          <a:xfrm>
            <a:off x="8105775" y="2019300"/>
            <a:ext cx="9509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highlight>
                  <a:srgbClr val="FFFF00"/>
                </a:highlight>
              </a:rPr>
              <a:t>TP = 35</a:t>
            </a:r>
          </a:p>
          <a:p>
            <a:r>
              <a:rPr lang="tr-TR" b="1" dirty="0">
                <a:highlight>
                  <a:srgbClr val="00FF00"/>
                </a:highlight>
              </a:rPr>
              <a:t>FP = 11</a:t>
            </a:r>
          </a:p>
          <a:p>
            <a:r>
              <a:rPr lang="tr-TR" b="1" dirty="0">
                <a:highlight>
                  <a:srgbClr val="00FFFF"/>
                </a:highlight>
              </a:rPr>
              <a:t>FN = 5</a:t>
            </a:r>
          </a:p>
          <a:p>
            <a:r>
              <a:rPr lang="tr-TR" b="1" dirty="0">
                <a:highlight>
                  <a:srgbClr val="FF00FF"/>
                </a:highlight>
              </a:rPr>
              <a:t>TN = 94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102EC532-60EC-B948-9F1D-A2230CB59614}"/>
              </a:ext>
            </a:extLst>
          </p:cNvPr>
          <p:cNvSpPr/>
          <p:nvPr/>
        </p:nvSpPr>
        <p:spPr>
          <a:xfrm>
            <a:off x="4215992" y="2280912"/>
            <a:ext cx="638175" cy="549999"/>
          </a:xfrm>
          <a:prstGeom prst="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12AC30F5-2EC7-3D76-41FE-528FBD6A1AA3}"/>
              </a:ext>
            </a:extLst>
          </p:cNvPr>
          <p:cNvSpPr/>
          <p:nvPr/>
        </p:nvSpPr>
        <p:spPr>
          <a:xfrm>
            <a:off x="4215992" y="1682823"/>
            <a:ext cx="638175" cy="560948"/>
          </a:xfrm>
          <a:prstGeom prst="rect">
            <a:avLst/>
          </a:prstGeom>
          <a:solidFill>
            <a:schemeClr val="accent6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ECB8C94C-6FAA-B749-242D-2437811E1579}"/>
              </a:ext>
            </a:extLst>
          </p:cNvPr>
          <p:cNvSpPr/>
          <p:nvPr/>
        </p:nvSpPr>
        <p:spPr>
          <a:xfrm rot="16200000">
            <a:off x="5570003" y="2900946"/>
            <a:ext cx="517594" cy="534401"/>
          </a:xfrm>
          <a:prstGeom prst="rect">
            <a:avLst/>
          </a:prstGeom>
          <a:solidFill>
            <a:schemeClr val="accent5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4F7E88C-F0A2-4DF6-AB9F-BF1666159CDE}"/>
              </a:ext>
            </a:extLst>
          </p:cNvPr>
          <p:cNvSpPr/>
          <p:nvPr/>
        </p:nvSpPr>
        <p:spPr>
          <a:xfrm>
            <a:off x="4215992" y="2868052"/>
            <a:ext cx="638175" cy="560948"/>
          </a:xfrm>
          <a:prstGeom prst="rect">
            <a:avLst/>
          </a:prstGeom>
          <a:solidFill>
            <a:schemeClr val="accent6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D7664A5A-8EC7-A81C-10DD-930B72491407}"/>
              </a:ext>
            </a:extLst>
          </p:cNvPr>
          <p:cNvSpPr/>
          <p:nvPr/>
        </p:nvSpPr>
        <p:spPr>
          <a:xfrm rot="16200000">
            <a:off x="2832428" y="2202979"/>
            <a:ext cx="475581" cy="724033"/>
          </a:xfrm>
          <a:prstGeom prst="rect">
            <a:avLst/>
          </a:prstGeom>
          <a:solidFill>
            <a:schemeClr val="accent4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5F270F69-4CB5-E679-C9BF-6A6114220F24}"/>
              </a:ext>
            </a:extLst>
          </p:cNvPr>
          <p:cNvSpPr/>
          <p:nvPr/>
        </p:nvSpPr>
        <p:spPr>
          <a:xfrm rot="16200000">
            <a:off x="5631776" y="2214438"/>
            <a:ext cx="475581" cy="724033"/>
          </a:xfrm>
          <a:prstGeom prst="rect">
            <a:avLst/>
          </a:prstGeom>
          <a:solidFill>
            <a:schemeClr val="accent4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33D8AB9D-4937-3171-EA26-A50F86B27FC0}"/>
              </a:ext>
            </a:extLst>
          </p:cNvPr>
          <p:cNvSpPr/>
          <p:nvPr/>
        </p:nvSpPr>
        <p:spPr>
          <a:xfrm rot="16200000">
            <a:off x="2811422" y="2881325"/>
            <a:ext cx="517594" cy="534401"/>
          </a:xfrm>
          <a:prstGeom prst="rect">
            <a:avLst/>
          </a:prstGeom>
          <a:solidFill>
            <a:schemeClr val="accent5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5B9D5759-0C78-9F9F-30D2-AE0AD4009D44}"/>
              </a:ext>
            </a:extLst>
          </p:cNvPr>
          <p:cNvSpPr/>
          <p:nvPr/>
        </p:nvSpPr>
        <p:spPr>
          <a:xfrm rot="16200000">
            <a:off x="5570003" y="1726176"/>
            <a:ext cx="517594" cy="534401"/>
          </a:xfrm>
          <a:prstGeom prst="rect">
            <a:avLst/>
          </a:prstGeom>
          <a:solidFill>
            <a:schemeClr val="accent5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0AC9925B-A88D-F5C7-877F-B37F2B73D9D4}"/>
              </a:ext>
            </a:extLst>
          </p:cNvPr>
          <p:cNvSpPr/>
          <p:nvPr/>
        </p:nvSpPr>
        <p:spPr>
          <a:xfrm rot="16200000">
            <a:off x="2811421" y="1752099"/>
            <a:ext cx="517594" cy="534401"/>
          </a:xfrm>
          <a:prstGeom prst="rect">
            <a:avLst/>
          </a:prstGeom>
          <a:solidFill>
            <a:schemeClr val="accent5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970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 animBg="1"/>
      <p:bldP spid="16" grpId="0" animBg="1"/>
      <p:bldP spid="18" grpId="0" animBg="1"/>
      <p:bldP spid="10" grpId="0" animBg="1"/>
      <p:bldP spid="11" grpId="0" animBg="1"/>
      <p:bldP spid="12" grpId="0" animBg="1"/>
      <p:bldP spid="15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DAF05-00F3-AD16-DDCC-7216B7947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9B740516-24D7-9077-09DD-FBC07344D025}"/>
              </a:ext>
            </a:extLst>
          </p:cNvPr>
          <p:cNvGraphicFramePr>
            <a:graphicFrameLocks noGrp="1"/>
          </p:cNvGraphicFramePr>
          <p:nvPr/>
        </p:nvGraphicFramePr>
        <p:xfrm>
          <a:off x="918110" y="1132824"/>
          <a:ext cx="5620151" cy="2296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0747">
                  <a:extLst>
                    <a:ext uri="{9D8B030D-6E8A-4147-A177-3AD203B41FA5}">
                      <a16:colId xmlns:a16="http://schemas.microsoft.com/office/drawing/2014/main" val="1751931721"/>
                    </a:ext>
                  </a:extLst>
                </a:gridCol>
                <a:gridCol w="1366468">
                  <a:extLst>
                    <a:ext uri="{9D8B030D-6E8A-4147-A177-3AD203B41FA5}">
                      <a16:colId xmlns:a16="http://schemas.microsoft.com/office/drawing/2014/main" val="2373839547"/>
                    </a:ext>
                  </a:extLst>
                </a:gridCol>
                <a:gridCol w="1366468">
                  <a:extLst>
                    <a:ext uri="{9D8B030D-6E8A-4147-A177-3AD203B41FA5}">
                      <a16:colId xmlns:a16="http://schemas.microsoft.com/office/drawing/2014/main" val="2351178802"/>
                    </a:ext>
                  </a:extLst>
                </a:gridCol>
                <a:gridCol w="1366468">
                  <a:extLst>
                    <a:ext uri="{9D8B030D-6E8A-4147-A177-3AD203B41FA5}">
                      <a16:colId xmlns:a16="http://schemas.microsoft.com/office/drawing/2014/main" val="578875541"/>
                    </a:ext>
                  </a:extLst>
                </a:gridCol>
              </a:tblGrid>
              <a:tr h="57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>
                          <a:effectLst/>
                        </a:rPr>
                        <a:t> 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Diabet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Hypertension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Cholesterol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726041"/>
                  </a:ext>
                </a:extLst>
              </a:tr>
              <a:tr h="57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Diabet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40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7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9195168"/>
                  </a:ext>
                </a:extLst>
              </a:tr>
              <a:tr h="57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Hypertension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35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5053317"/>
                  </a:ext>
                </a:extLst>
              </a:tr>
              <a:tr h="574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u="none" strike="noStrike" dirty="0" err="1">
                          <a:effectLst/>
                        </a:rPr>
                        <a:t>Cholesterol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2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3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8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45</a:t>
                      </a:r>
                      <a:endParaRPr lang="tr-TR" sz="28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8438432"/>
                  </a:ext>
                </a:extLst>
              </a:tr>
            </a:tbl>
          </a:graphicData>
        </a:graphic>
      </p:graphicFrame>
      <p:sp>
        <p:nvSpPr>
          <p:cNvPr id="6" name="Sağ Ayraç 5">
            <a:extLst>
              <a:ext uri="{FF2B5EF4-FFF2-40B4-BE49-F238E27FC236}">
                <a16:creationId xmlns:a16="http://schemas.microsoft.com/office/drawing/2014/main" id="{813566C7-8838-4A02-BA3F-59E339A1F982}"/>
              </a:ext>
            </a:extLst>
          </p:cNvPr>
          <p:cNvSpPr/>
          <p:nvPr/>
        </p:nvSpPr>
        <p:spPr>
          <a:xfrm rot="16200000">
            <a:off x="4287243" y="-1291176"/>
            <a:ext cx="294950" cy="4207091"/>
          </a:xfrm>
          <a:prstGeom prst="righ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AC493699-15CD-1760-0228-FCC116E202DE}"/>
              </a:ext>
            </a:extLst>
          </p:cNvPr>
          <p:cNvSpPr txBox="1"/>
          <p:nvPr/>
        </p:nvSpPr>
        <p:spPr>
          <a:xfrm>
            <a:off x="3537036" y="295562"/>
            <a:ext cx="1879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Tahmin (</a:t>
            </a:r>
            <a:r>
              <a:rPr lang="tr-TR" b="1" dirty="0" err="1"/>
              <a:t>Predict</a:t>
            </a:r>
            <a:r>
              <a:rPr lang="tr-TR" b="1" dirty="0"/>
              <a:t>)</a:t>
            </a:r>
          </a:p>
        </p:txBody>
      </p:sp>
      <p:sp>
        <p:nvSpPr>
          <p:cNvPr id="8" name="Sağ Ayraç 7">
            <a:extLst>
              <a:ext uri="{FF2B5EF4-FFF2-40B4-BE49-F238E27FC236}">
                <a16:creationId xmlns:a16="http://schemas.microsoft.com/office/drawing/2014/main" id="{45A18B96-AB3B-DCED-2990-E7C4EC02EC42}"/>
              </a:ext>
            </a:extLst>
          </p:cNvPr>
          <p:cNvSpPr/>
          <p:nvPr/>
        </p:nvSpPr>
        <p:spPr>
          <a:xfrm rot="10800000">
            <a:off x="454783" y="1700993"/>
            <a:ext cx="294950" cy="1728007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B40DEF78-B1B7-4741-3EF4-21D70BFB22CA}"/>
              </a:ext>
            </a:extLst>
          </p:cNvPr>
          <p:cNvSpPr txBox="1"/>
          <p:nvPr/>
        </p:nvSpPr>
        <p:spPr>
          <a:xfrm rot="16200000">
            <a:off x="-630451" y="2416894"/>
            <a:ext cx="1801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Gerçek (Actual)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3A38BA38-B67C-C6BE-41C8-8D2436A7A88A}"/>
              </a:ext>
            </a:extLst>
          </p:cNvPr>
          <p:cNvSpPr txBox="1"/>
          <p:nvPr/>
        </p:nvSpPr>
        <p:spPr>
          <a:xfrm>
            <a:off x="454782" y="3869355"/>
            <a:ext cx="6647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TOPLAM ÖRNEK SAYISI </a:t>
            </a:r>
            <a:r>
              <a:rPr lang="tr-TR" dirty="0"/>
              <a:t>= 40 + 8 + 7 + 4 + 35 + 1 + 2 + 3 + 45 = </a:t>
            </a:r>
            <a:r>
              <a:rPr lang="tr-TR" b="1" dirty="0">
                <a:highlight>
                  <a:srgbClr val="FFFF00"/>
                </a:highlight>
              </a:rPr>
              <a:t>145</a:t>
            </a:r>
            <a:r>
              <a:rPr lang="tr-TR" dirty="0"/>
              <a:t> 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0665EB72-3F76-DFA0-DA52-1CA5BDDA4EAD}"/>
              </a:ext>
            </a:extLst>
          </p:cNvPr>
          <p:cNvSpPr txBox="1"/>
          <p:nvPr/>
        </p:nvSpPr>
        <p:spPr>
          <a:xfrm>
            <a:off x="8105775" y="871214"/>
            <a:ext cx="2618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b="1" dirty="0"/>
              <a:t>CHOLESTEROL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3590BDEF-D1C1-2ACC-9BC7-121584CFC6A5}"/>
              </a:ext>
            </a:extLst>
          </p:cNvPr>
          <p:cNvSpPr txBox="1"/>
          <p:nvPr/>
        </p:nvSpPr>
        <p:spPr>
          <a:xfrm>
            <a:off x="8105775" y="2019300"/>
            <a:ext cx="9509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highlight>
                  <a:srgbClr val="FFFF00"/>
                </a:highlight>
              </a:rPr>
              <a:t>TP = 45</a:t>
            </a:r>
          </a:p>
          <a:p>
            <a:r>
              <a:rPr lang="tr-TR" b="1" dirty="0">
                <a:highlight>
                  <a:srgbClr val="00FF00"/>
                </a:highlight>
              </a:rPr>
              <a:t>FP = 8</a:t>
            </a:r>
          </a:p>
          <a:p>
            <a:r>
              <a:rPr lang="tr-TR" b="1" dirty="0">
                <a:highlight>
                  <a:srgbClr val="00FFFF"/>
                </a:highlight>
              </a:rPr>
              <a:t>FN = 5</a:t>
            </a:r>
          </a:p>
          <a:p>
            <a:r>
              <a:rPr lang="tr-TR" b="1" dirty="0">
                <a:highlight>
                  <a:srgbClr val="FF00FF"/>
                </a:highlight>
              </a:rPr>
              <a:t>TN = 94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169EBB46-8B44-7D45-7B4D-73416AE24314}"/>
              </a:ext>
            </a:extLst>
          </p:cNvPr>
          <p:cNvSpPr/>
          <p:nvPr/>
        </p:nvSpPr>
        <p:spPr>
          <a:xfrm>
            <a:off x="5554806" y="2857360"/>
            <a:ext cx="638175" cy="549999"/>
          </a:xfrm>
          <a:prstGeom prst="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714FFA4C-DC3B-1731-819A-2F30FD75383E}"/>
              </a:ext>
            </a:extLst>
          </p:cNvPr>
          <p:cNvSpPr/>
          <p:nvPr/>
        </p:nvSpPr>
        <p:spPr>
          <a:xfrm>
            <a:off x="5554805" y="2296412"/>
            <a:ext cx="638175" cy="560948"/>
          </a:xfrm>
          <a:prstGeom prst="rect">
            <a:avLst/>
          </a:prstGeom>
          <a:solidFill>
            <a:schemeClr val="accent6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BCF02C46-C5E2-844B-58DB-94A2728D73AC}"/>
              </a:ext>
            </a:extLst>
          </p:cNvPr>
          <p:cNvSpPr/>
          <p:nvPr/>
        </p:nvSpPr>
        <p:spPr>
          <a:xfrm rot="16200000">
            <a:off x="4214752" y="2272508"/>
            <a:ext cx="517594" cy="534401"/>
          </a:xfrm>
          <a:prstGeom prst="rect">
            <a:avLst/>
          </a:prstGeom>
          <a:solidFill>
            <a:schemeClr val="accent5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92F3308D-D0EF-609B-696D-14301E2F4C66}"/>
              </a:ext>
            </a:extLst>
          </p:cNvPr>
          <p:cNvSpPr/>
          <p:nvPr/>
        </p:nvSpPr>
        <p:spPr>
          <a:xfrm>
            <a:off x="5554805" y="1675577"/>
            <a:ext cx="638175" cy="560948"/>
          </a:xfrm>
          <a:prstGeom prst="rect">
            <a:avLst/>
          </a:prstGeom>
          <a:solidFill>
            <a:schemeClr val="accent6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7458DC12-60B3-8E24-7459-9BEEBC81EED4}"/>
              </a:ext>
            </a:extLst>
          </p:cNvPr>
          <p:cNvSpPr/>
          <p:nvPr/>
        </p:nvSpPr>
        <p:spPr>
          <a:xfrm rot="16200000">
            <a:off x="2865989" y="2752563"/>
            <a:ext cx="475581" cy="724033"/>
          </a:xfrm>
          <a:prstGeom prst="rect">
            <a:avLst/>
          </a:prstGeom>
          <a:solidFill>
            <a:schemeClr val="accent4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F40B29D7-19BD-26AB-32D0-80138D5242B8}"/>
              </a:ext>
            </a:extLst>
          </p:cNvPr>
          <p:cNvSpPr/>
          <p:nvPr/>
        </p:nvSpPr>
        <p:spPr>
          <a:xfrm rot="16200000">
            <a:off x="4250802" y="2770342"/>
            <a:ext cx="475581" cy="724033"/>
          </a:xfrm>
          <a:prstGeom prst="rect">
            <a:avLst/>
          </a:prstGeom>
          <a:solidFill>
            <a:schemeClr val="accent4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77D8DB9A-23B8-8E26-97C5-F73FFC11B367}"/>
              </a:ext>
            </a:extLst>
          </p:cNvPr>
          <p:cNvSpPr/>
          <p:nvPr/>
        </p:nvSpPr>
        <p:spPr>
          <a:xfrm rot="16200000">
            <a:off x="4204095" y="1696064"/>
            <a:ext cx="517594" cy="534401"/>
          </a:xfrm>
          <a:prstGeom prst="rect">
            <a:avLst/>
          </a:prstGeom>
          <a:solidFill>
            <a:schemeClr val="accent5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4585807A-AD57-3D34-9BDF-3C235CFA3360}"/>
              </a:ext>
            </a:extLst>
          </p:cNvPr>
          <p:cNvSpPr/>
          <p:nvPr/>
        </p:nvSpPr>
        <p:spPr>
          <a:xfrm rot="16200000">
            <a:off x="2844982" y="1723723"/>
            <a:ext cx="517594" cy="534401"/>
          </a:xfrm>
          <a:prstGeom prst="rect">
            <a:avLst/>
          </a:prstGeom>
          <a:solidFill>
            <a:schemeClr val="accent5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A682325B-0187-AAC5-C7BC-0A535AE7CC10}"/>
              </a:ext>
            </a:extLst>
          </p:cNvPr>
          <p:cNvSpPr/>
          <p:nvPr/>
        </p:nvSpPr>
        <p:spPr>
          <a:xfrm rot="16200000">
            <a:off x="2866297" y="2263752"/>
            <a:ext cx="517594" cy="534401"/>
          </a:xfrm>
          <a:prstGeom prst="rect">
            <a:avLst/>
          </a:prstGeom>
          <a:solidFill>
            <a:schemeClr val="accent5">
              <a:alpha val="2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097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10" grpId="0" animBg="1"/>
      <p:bldP spid="11" grpId="0" animBg="1"/>
      <p:bldP spid="12" grpId="0" animBg="1"/>
      <p:bldP spid="15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AD7D6C54-415E-9DB0-AC28-8E2946DFD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197645"/>
              </p:ext>
            </p:extLst>
          </p:nvPr>
        </p:nvGraphicFramePr>
        <p:xfrm>
          <a:off x="2115881" y="2304358"/>
          <a:ext cx="7960238" cy="2249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670">
                  <a:extLst>
                    <a:ext uri="{9D8B030D-6E8A-4147-A177-3AD203B41FA5}">
                      <a16:colId xmlns:a16="http://schemas.microsoft.com/office/drawing/2014/main" val="2164657532"/>
                    </a:ext>
                  </a:extLst>
                </a:gridCol>
                <a:gridCol w="1556892">
                  <a:extLst>
                    <a:ext uri="{9D8B030D-6E8A-4147-A177-3AD203B41FA5}">
                      <a16:colId xmlns:a16="http://schemas.microsoft.com/office/drawing/2014/main" val="3298968924"/>
                    </a:ext>
                  </a:extLst>
                </a:gridCol>
                <a:gridCol w="1556892">
                  <a:extLst>
                    <a:ext uri="{9D8B030D-6E8A-4147-A177-3AD203B41FA5}">
                      <a16:colId xmlns:a16="http://schemas.microsoft.com/office/drawing/2014/main" val="2014778566"/>
                    </a:ext>
                  </a:extLst>
                </a:gridCol>
                <a:gridCol w="1556892">
                  <a:extLst>
                    <a:ext uri="{9D8B030D-6E8A-4147-A177-3AD203B41FA5}">
                      <a16:colId xmlns:a16="http://schemas.microsoft.com/office/drawing/2014/main" val="1721153934"/>
                    </a:ext>
                  </a:extLst>
                </a:gridCol>
                <a:gridCol w="1556892">
                  <a:extLst>
                    <a:ext uri="{9D8B030D-6E8A-4147-A177-3AD203B41FA5}">
                      <a16:colId xmlns:a16="http://schemas.microsoft.com/office/drawing/2014/main" val="3783843222"/>
                    </a:ext>
                  </a:extLst>
                </a:gridCol>
              </a:tblGrid>
              <a:tr h="5623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>
                          <a:effectLst/>
                        </a:rPr>
                        <a:t> 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TP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FP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FN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TN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3558810"/>
                  </a:ext>
                </a:extLst>
              </a:tr>
              <a:tr h="5623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Diabet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40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6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84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087396"/>
                  </a:ext>
                </a:extLst>
              </a:tr>
              <a:tr h="5623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Hypertension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35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11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5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94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9008484"/>
                  </a:ext>
                </a:extLst>
              </a:tr>
              <a:tr h="5623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Cholesterol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87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1635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101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4D6EC-6355-6B72-28A6-BB0D47CCB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9BCF7933-7326-2DD9-0B0A-196A2941B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362839"/>
              </p:ext>
            </p:extLst>
          </p:nvPr>
        </p:nvGraphicFramePr>
        <p:xfrm>
          <a:off x="2220656" y="723208"/>
          <a:ext cx="7960238" cy="2249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670">
                  <a:extLst>
                    <a:ext uri="{9D8B030D-6E8A-4147-A177-3AD203B41FA5}">
                      <a16:colId xmlns:a16="http://schemas.microsoft.com/office/drawing/2014/main" val="2164657532"/>
                    </a:ext>
                  </a:extLst>
                </a:gridCol>
                <a:gridCol w="1556892">
                  <a:extLst>
                    <a:ext uri="{9D8B030D-6E8A-4147-A177-3AD203B41FA5}">
                      <a16:colId xmlns:a16="http://schemas.microsoft.com/office/drawing/2014/main" val="3298968924"/>
                    </a:ext>
                  </a:extLst>
                </a:gridCol>
                <a:gridCol w="1556892">
                  <a:extLst>
                    <a:ext uri="{9D8B030D-6E8A-4147-A177-3AD203B41FA5}">
                      <a16:colId xmlns:a16="http://schemas.microsoft.com/office/drawing/2014/main" val="2014778566"/>
                    </a:ext>
                  </a:extLst>
                </a:gridCol>
                <a:gridCol w="1556892">
                  <a:extLst>
                    <a:ext uri="{9D8B030D-6E8A-4147-A177-3AD203B41FA5}">
                      <a16:colId xmlns:a16="http://schemas.microsoft.com/office/drawing/2014/main" val="1721153934"/>
                    </a:ext>
                  </a:extLst>
                </a:gridCol>
                <a:gridCol w="1556892">
                  <a:extLst>
                    <a:ext uri="{9D8B030D-6E8A-4147-A177-3AD203B41FA5}">
                      <a16:colId xmlns:a16="http://schemas.microsoft.com/office/drawing/2014/main" val="3783843222"/>
                    </a:ext>
                  </a:extLst>
                </a:gridCol>
              </a:tblGrid>
              <a:tr h="5623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>
                          <a:effectLst/>
                        </a:rPr>
                        <a:t> 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TP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FP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FN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TN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3558810"/>
                  </a:ext>
                </a:extLst>
              </a:tr>
              <a:tr h="5623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Diabet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40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6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84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087396"/>
                  </a:ext>
                </a:extLst>
              </a:tr>
              <a:tr h="5623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Hypertension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35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11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5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94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9008484"/>
                  </a:ext>
                </a:extLst>
              </a:tr>
              <a:tr h="5623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Cholesterol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87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1635615"/>
                  </a:ext>
                </a:extLst>
              </a:tr>
            </a:tbl>
          </a:graphicData>
        </a:graphic>
      </p:graphicFrame>
      <p:pic>
        <p:nvPicPr>
          <p:cNvPr id="3" name="Resim 2">
            <a:extLst>
              <a:ext uri="{FF2B5EF4-FFF2-40B4-BE49-F238E27FC236}">
                <a16:creationId xmlns:a16="http://schemas.microsoft.com/office/drawing/2014/main" id="{A92535D0-EFE3-DD2B-B90C-8CEFE2EB4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122" y="3597230"/>
            <a:ext cx="3624454" cy="222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172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3034F-CC13-464C-C88F-95004CB13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3358B8CD-D4E1-36AE-C4FE-79131A8DB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759042"/>
              </p:ext>
            </p:extLst>
          </p:nvPr>
        </p:nvGraphicFramePr>
        <p:xfrm>
          <a:off x="163256" y="218383"/>
          <a:ext cx="6599495" cy="1991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6483">
                  <a:extLst>
                    <a:ext uri="{9D8B030D-6E8A-4147-A177-3AD203B41FA5}">
                      <a16:colId xmlns:a16="http://schemas.microsoft.com/office/drawing/2014/main" val="2164657532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3298968924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2014778566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1721153934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3783843222"/>
                    </a:ext>
                  </a:extLst>
                </a:gridCol>
              </a:tblGrid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>
                          <a:effectLst/>
                        </a:rPr>
                        <a:t> 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TP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FP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FN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TN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3558810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Diabet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40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6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84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087396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Hypertension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35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11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5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94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9008484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Cholesterol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87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163561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F8E8CDCF-309F-464C-3A08-DAA9C97801F0}"/>
                  </a:ext>
                </a:extLst>
              </p:cNvPr>
              <p:cNvSpPr txBox="1"/>
              <p:nvPr/>
            </p:nvSpPr>
            <p:spPr>
              <a:xfrm>
                <a:off x="3048000" y="2464108"/>
                <a:ext cx="6096000" cy="3968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8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𝐴𝑐𝑐𝑢𝑟𝑎𝑐𝑦</m:t>
                          </m:r>
                        </m:e>
                        <m:sub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𝐷𝐼𝐴𝐵𝐸𝑇</m:t>
                          </m:r>
                        </m:sub>
                      </m:sSub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124</m:t>
                          </m:r>
                        </m:num>
                        <m:den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145</m:t>
                          </m:r>
                        </m:den>
                      </m:f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=0,8551</m:t>
                      </m:r>
                    </m:oMath>
                  </m:oMathPara>
                </a14:m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tr-TR" sz="18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𝑃𝑟𝑒𝑐𝑖𝑠𝑖𝑜𝑛</m:t>
                          </m:r>
                        </m:e>
                        <m:sub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𝐷𝐼𝐴𝐵𝐸𝑇</m:t>
                          </m:r>
                        </m:sub>
                      </m:sSub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40+6</m:t>
                          </m:r>
                        </m:den>
                      </m:f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=0,8696</m:t>
                      </m:r>
                    </m:oMath>
                  </m:oMathPara>
                </a14:m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tr-TR" sz="18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𝑅𝑒𝑐𝑎𝑙𝑙</m:t>
                          </m:r>
                        </m:e>
                        <m:sub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𝐷𝐼𝐴𝐵𝐸𝑇</m:t>
                          </m:r>
                        </m:sub>
                      </m:sSub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40+15</m:t>
                          </m:r>
                        </m:den>
                      </m:f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=0,7273</m:t>
                      </m:r>
                    </m:oMath>
                  </m:oMathPara>
                </a14:m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tr-TR" sz="18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𝐷𝐼𝐴𝐵𝐸𝑇</m:t>
                          </m:r>
                        </m:sub>
                      </m:sSub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2×0,8696×0,7273</m:t>
                          </m:r>
                        </m:num>
                        <m:den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0,8696+0,7273</m:t>
                          </m:r>
                        </m:den>
                      </m:f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=0,7910</m:t>
                      </m:r>
                    </m:oMath>
                  </m:oMathPara>
                </a14:m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F8E8CDCF-309F-464C-3A08-DAA9C9780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464108"/>
                <a:ext cx="6096000" cy="39681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Metin kutusu 14">
            <a:extLst>
              <a:ext uri="{FF2B5EF4-FFF2-40B4-BE49-F238E27FC236}">
                <a16:creationId xmlns:a16="http://schemas.microsoft.com/office/drawing/2014/main" id="{858F7E4B-1CAE-5425-C4D7-C757E29C4F9E}"/>
              </a:ext>
            </a:extLst>
          </p:cNvPr>
          <p:cNvSpPr txBox="1"/>
          <p:nvPr/>
        </p:nvSpPr>
        <p:spPr>
          <a:xfrm>
            <a:off x="8105775" y="812369"/>
            <a:ext cx="1375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b="1" dirty="0"/>
              <a:t>DIABET</a:t>
            </a:r>
          </a:p>
        </p:txBody>
      </p:sp>
    </p:spTree>
    <p:extLst>
      <p:ext uri="{BB962C8B-B14F-4D97-AF65-F5344CB8AC3E}">
        <p14:creationId xmlns:p14="http://schemas.microsoft.com/office/powerpoint/2010/main" val="46572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FC694-E798-9B8C-21B5-6755D513F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EE239D62-8334-144B-5902-B3CF4056E0FE}"/>
              </a:ext>
            </a:extLst>
          </p:cNvPr>
          <p:cNvGraphicFramePr>
            <a:graphicFrameLocks noGrp="1"/>
          </p:cNvGraphicFramePr>
          <p:nvPr/>
        </p:nvGraphicFramePr>
        <p:xfrm>
          <a:off x="163256" y="218383"/>
          <a:ext cx="6599495" cy="1991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6483">
                  <a:extLst>
                    <a:ext uri="{9D8B030D-6E8A-4147-A177-3AD203B41FA5}">
                      <a16:colId xmlns:a16="http://schemas.microsoft.com/office/drawing/2014/main" val="2164657532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3298968924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2014778566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1721153934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3783843222"/>
                    </a:ext>
                  </a:extLst>
                </a:gridCol>
              </a:tblGrid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>
                          <a:effectLst/>
                        </a:rPr>
                        <a:t> 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TP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FP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FN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TN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3558810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Diabet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40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6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84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087396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Hypertension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35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11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5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94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9008484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Cholesterol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87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163561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Metin kutusu 2">
                <a:extLst>
                  <a:ext uri="{FF2B5EF4-FFF2-40B4-BE49-F238E27FC236}">
                    <a16:creationId xmlns:a16="http://schemas.microsoft.com/office/drawing/2014/main" id="{1076A5EF-5AAB-ED4B-A613-AADC6DDF2728}"/>
                  </a:ext>
                </a:extLst>
              </p:cNvPr>
              <p:cNvSpPr txBox="1"/>
              <p:nvPr/>
            </p:nvSpPr>
            <p:spPr>
              <a:xfrm>
                <a:off x="3048000" y="2445636"/>
                <a:ext cx="6096000" cy="39860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8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𝐴𝑐𝑐𝑢𝑟𝑎𝑐𝑦</m:t>
                          </m:r>
                        </m:e>
                        <m:sub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𝐻𝑌𝑃𝐸𝑅𝑇𝐸𝑁𝑆𝐼𝑂𝑁</m:t>
                          </m:r>
                        </m:sub>
                      </m:sSub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129</m:t>
                          </m:r>
                        </m:num>
                        <m:den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145</m:t>
                          </m:r>
                        </m:den>
                      </m:f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=0,8896</m:t>
                      </m:r>
                    </m:oMath>
                  </m:oMathPara>
                </a14:m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tr-TR" sz="18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𝑃𝑟𝑒𝑐𝑖𝑠𝑖𝑜𝑛</m:t>
                          </m:r>
                        </m:e>
                        <m:sub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𝐻𝑌𝑃𝐸𝑅𝑇𝐸𝑁𝑆𝐼𝑂𝑁</m:t>
                          </m:r>
                        </m:sub>
                      </m:sSub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35</m:t>
                          </m:r>
                        </m:num>
                        <m:den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35+11</m:t>
                          </m:r>
                        </m:den>
                      </m:f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=0,7609</m:t>
                      </m:r>
                    </m:oMath>
                  </m:oMathPara>
                </a14:m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tr-TR" sz="18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𝑅𝑒𝑐𝑎𝑙𝑙</m:t>
                          </m:r>
                        </m:e>
                        <m:sub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𝐻𝑌𝑃𝐸𝑅𝑇𝐸𝑁𝑆𝐼𝑂𝑁</m:t>
                          </m:r>
                        </m:sub>
                      </m:sSub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35</m:t>
                          </m:r>
                        </m:num>
                        <m:den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35+5</m:t>
                          </m:r>
                        </m:den>
                      </m:f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=0,8750</m:t>
                      </m:r>
                    </m:oMath>
                  </m:oMathPara>
                </a14:m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tr-TR" sz="18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𝐻𝑌𝑃𝐸𝑅𝑇𝐸𝑁𝑆𝐼𝑂𝑁</m:t>
                          </m:r>
                        </m:sub>
                      </m:sSub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2×0,7609×0,8750</m:t>
                          </m:r>
                        </m:num>
                        <m:den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0,7609+0,8750</m:t>
                          </m:r>
                        </m:den>
                      </m:f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=0,8140</m:t>
                      </m:r>
                    </m:oMath>
                  </m:oMathPara>
                </a14:m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Metin kutusu 2">
                <a:extLst>
                  <a:ext uri="{FF2B5EF4-FFF2-40B4-BE49-F238E27FC236}">
                    <a16:creationId xmlns:a16="http://schemas.microsoft.com/office/drawing/2014/main" id="{1076A5EF-5AAB-ED4B-A613-AADC6DDF2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445636"/>
                <a:ext cx="6096000" cy="39860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Metin kutusu 4">
            <a:extLst>
              <a:ext uri="{FF2B5EF4-FFF2-40B4-BE49-F238E27FC236}">
                <a16:creationId xmlns:a16="http://schemas.microsoft.com/office/drawing/2014/main" id="{286F1580-E319-2B84-8FD2-95C913DD8DA3}"/>
              </a:ext>
            </a:extLst>
          </p:cNvPr>
          <p:cNvSpPr txBox="1"/>
          <p:nvPr/>
        </p:nvSpPr>
        <p:spPr>
          <a:xfrm>
            <a:off x="8105775" y="871214"/>
            <a:ext cx="2791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b="1" dirty="0"/>
              <a:t>HYPERTENSION</a:t>
            </a:r>
          </a:p>
        </p:txBody>
      </p:sp>
    </p:spTree>
    <p:extLst>
      <p:ext uri="{BB962C8B-B14F-4D97-AF65-F5344CB8AC3E}">
        <p14:creationId xmlns:p14="http://schemas.microsoft.com/office/powerpoint/2010/main" val="167346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BFE37-A8FB-12CF-0A0F-04D126492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672AEBCE-D987-889D-21EC-52E0308C23EE}"/>
              </a:ext>
            </a:extLst>
          </p:cNvPr>
          <p:cNvGraphicFramePr>
            <a:graphicFrameLocks noGrp="1"/>
          </p:cNvGraphicFramePr>
          <p:nvPr/>
        </p:nvGraphicFramePr>
        <p:xfrm>
          <a:off x="163256" y="218383"/>
          <a:ext cx="6599495" cy="1991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6483">
                  <a:extLst>
                    <a:ext uri="{9D8B030D-6E8A-4147-A177-3AD203B41FA5}">
                      <a16:colId xmlns:a16="http://schemas.microsoft.com/office/drawing/2014/main" val="2164657532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3298968924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2014778566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1721153934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3783843222"/>
                    </a:ext>
                  </a:extLst>
                </a:gridCol>
              </a:tblGrid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>
                          <a:effectLst/>
                        </a:rPr>
                        <a:t> 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TP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FP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FN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TN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3558810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Diabet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40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6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84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087396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Hypertension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35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11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5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94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9008484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Cholesterol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87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163561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Metin kutusu 4">
                <a:extLst>
                  <a:ext uri="{FF2B5EF4-FFF2-40B4-BE49-F238E27FC236}">
                    <a16:creationId xmlns:a16="http://schemas.microsoft.com/office/drawing/2014/main" id="{35DA4168-5BA7-24DD-F178-D16E05908BB6}"/>
                  </a:ext>
                </a:extLst>
              </p:cNvPr>
              <p:cNvSpPr txBox="1"/>
              <p:nvPr/>
            </p:nvSpPr>
            <p:spPr>
              <a:xfrm>
                <a:off x="3048000" y="2534343"/>
                <a:ext cx="6096000" cy="3980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8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𝐴𝑐𝑐𝑢𝑟𝑎𝑐𝑦</m:t>
                          </m:r>
                        </m:e>
                        <m:sub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𝐶𝐻𝑂𝐿𝐸𝑆𝑇𝐸𝑅𝑂𝐿</m:t>
                          </m:r>
                        </m:sub>
                      </m:sSub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132</m:t>
                          </m:r>
                        </m:num>
                        <m:den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145</m:t>
                          </m:r>
                        </m:den>
                      </m:f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=0,9103</m:t>
                      </m:r>
                    </m:oMath>
                  </m:oMathPara>
                </a14:m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tr-TR" sz="18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𝑃𝑟𝑒𝑐𝑖𝑠𝑖𝑜𝑛</m:t>
                          </m:r>
                        </m:e>
                        <m:sub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𝐶𝐻𝑂𝐿𝐸𝑆𝑇𝐸𝑅𝑂𝐿</m:t>
                          </m:r>
                        </m:sub>
                      </m:sSub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45+8</m:t>
                          </m:r>
                        </m:den>
                      </m:f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=0,8491</m:t>
                      </m:r>
                    </m:oMath>
                  </m:oMathPara>
                </a14:m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tr-TR" sz="18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𝑅𝑒𝑐𝑎𝑙𝑙</m:t>
                          </m:r>
                        </m:e>
                        <m:sub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𝐶𝐻𝑂𝐿𝐸𝑆𝑇𝐸𝑅𝑂𝐿</m:t>
                          </m:r>
                        </m:sub>
                      </m:sSub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45+5</m:t>
                          </m:r>
                        </m:den>
                      </m:f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=0,9000</m:t>
                      </m:r>
                    </m:oMath>
                  </m:oMathPara>
                </a14:m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tr-TR" sz="18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𝐶𝐻𝑂𝐿𝐸𝑆𝑇𝐸𝑅𝑂𝐿</m:t>
                          </m:r>
                        </m:sub>
                      </m:sSub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2×0,8491×0,9000</m:t>
                          </m:r>
                        </m:num>
                        <m:den>
                          <m:r>
                            <a:rPr lang="tr-TR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0,8491+0,9000</m:t>
                          </m:r>
                        </m:den>
                      </m:f>
                      <m:r>
                        <a:rPr lang="tr-TR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=0,8740</m:t>
                      </m:r>
                    </m:oMath>
                  </m:oMathPara>
                </a14:m>
                <a:endParaRPr lang="tr-T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Metin kutusu 4">
                <a:extLst>
                  <a:ext uri="{FF2B5EF4-FFF2-40B4-BE49-F238E27FC236}">
                    <a16:creationId xmlns:a16="http://schemas.microsoft.com/office/drawing/2014/main" id="{35DA4168-5BA7-24DD-F178-D16E05908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534343"/>
                <a:ext cx="6096000" cy="39800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Metin kutusu 5">
            <a:extLst>
              <a:ext uri="{FF2B5EF4-FFF2-40B4-BE49-F238E27FC236}">
                <a16:creationId xmlns:a16="http://schemas.microsoft.com/office/drawing/2014/main" id="{C6F08C79-4C92-A893-90E9-3EA4AD7B8E6A}"/>
              </a:ext>
            </a:extLst>
          </p:cNvPr>
          <p:cNvSpPr txBox="1"/>
          <p:nvPr/>
        </p:nvSpPr>
        <p:spPr>
          <a:xfrm>
            <a:off x="8105775" y="871214"/>
            <a:ext cx="2618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b="1" dirty="0"/>
              <a:t>CHOLESTEROL</a:t>
            </a:r>
          </a:p>
        </p:txBody>
      </p:sp>
    </p:spTree>
    <p:extLst>
      <p:ext uri="{BB962C8B-B14F-4D97-AF65-F5344CB8AC3E}">
        <p14:creationId xmlns:p14="http://schemas.microsoft.com/office/powerpoint/2010/main" val="277793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037CD-6A71-E443-BF22-DC770472B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0BCD7B84-41EE-CF9C-E020-4FCB946DCDE7}"/>
              </a:ext>
            </a:extLst>
          </p:cNvPr>
          <p:cNvGraphicFramePr>
            <a:graphicFrameLocks noGrp="1"/>
          </p:cNvGraphicFramePr>
          <p:nvPr/>
        </p:nvGraphicFramePr>
        <p:xfrm>
          <a:off x="163256" y="218383"/>
          <a:ext cx="6599495" cy="1991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6483">
                  <a:extLst>
                    <a:ext uri="{9D8B030D-6E8A-4147-A177-3AD203B41FA5}">
                      <a16:colId xmlns:a16="http://schemas.microsoft.com/office/drawing/2014/main" val="2164657532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3298968924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2014778566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1721153934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3783843222"/>
                    </a:ext>
                  </a:extLst>
                </a:gridCol>
              </a:tblGrid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>
                          <a:effectLst/>
                        </a:rPr>
                        <a:t> 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TP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FP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FN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TN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3558810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Diabet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40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6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84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087396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Hypertension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35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11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5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94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9008484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Cholesterol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87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163561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Metin kutusu 2">
                <a:extLst>
                  <a:ext uri="{FF2B5EF4-FFF2-40B4-BE49-F238E27FC236}">
                    <a16:creationId xmlns:a16="http://schemas.microsoft.com/office/drawing/2014/main" id="{91F44801-2FDF-20BE-137A-16EC52D929F9}"/>
                  </a:ext>
                </a:extLst>
              </p:cNvPr>
              <p:cNvSpPr txBox="1"/>
              <p:nvPr/>
            </p:nvSpPr>
            <p:spPr>
              <a:xfrm>
                <a:off x="-160594" y="2602984"/>
                <a:ext cx="12352594" cy="5467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𝑊𝐸𝐼𝐺𝐻𝑇𝐸𝐷</m:t>
                          </m:r>
                        </m:sub>
                      </m:sSub>
                      <m:r>
                        <a:rPr lang="tr-TR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𝑃𝑟𝑒𝑐𝑖𝑠𝑖𝑜𝑛</m:t>
                                  </m:r>
                                </m:e>
                                <m:sub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𝐷𝐼𝐴𝐵𝐸𝑇</m:t>
                                  </m:r>
                                </m:sub>
                              </m:sSub>
                              <m:r>
                                <a:rPr lang="tr-TR" sz="1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𝑆𝑎𝑚𝑝𝑙𝑒</m:t>
                                  </m:r>
                                </m:e>
                                <m:sub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𝐷𝐼𝐴𝐵𝐸𝑇</m:t>
                                  </m:r>
                                </m:sub>
                              </m:sSub>
                            </m:e>
                          </m:d>
                          <m:r>
                            <a:rPr lang="tr-TR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𝑃𝑟𝑒𝑐𝑖𝑠𝑖𝑜𝑛</m:t>
                                  </m:r>
                                </m:e>
                                <m:sub>
                                  <m:r>
                                    <a:rPr lang="tr-TR" sz="1400" i="1" smtClean="0">
                                      <a:latin typeface="Cambria Math" panose="02040503050406030204" pitchFamily="18" charset="0"/>
                                    </a:rPr>
                                    <m:t>𝐻𝑌𝑃𝐸𝑅𝑇𝐸𝑁𝑆𝐼𝑂𝑁</m:t>
                                  </m:r>
                                </m:sub>
                              </m:sSub>
                              <m:r>
                                <a:rPr lang="tr-TR" sz="1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𝑆𝑎𝑚𝑝𝑙𝑒</m:t>
                                  </m:r>
                                </m:e>
                                <m:sub>
                                  <m:r>
                                    <a:rPr lang="tr-TR" sz="1400" i="1" smtClean="0">
                                      <a:latin typeface="Cambria Math" panose="02040503050406030204" pitchFamily="18" charset="0"/>
                                    </a:rPr>
                                    <m:t>𝐻𝑌𝑃𝐸𝑅𝑇𝐸𝑁𝑆𝐼𝑂𝑁</m:t>
                                  </m:r>
                                </m:sub>
                              </m:sSub>
                            </m:e>
                          </m:d>
                          <m:r>
                            <a:rPr lang="tr-TR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𝑃𝑟𝑒𝑐𝑖𝑠𝑖𝑜𝑛</m:t>
                                  </m:r>
                                </m:e>
                                <m:sub>
                                  <m:r>
                                    <a:rPr lang="tr-TR" sz="1400" i="1" smtClean="0">
                                      <a:latin typeface="Cambria Math" panose="02040503050406030204" pitchFamily="18" charset="0"/>
                                    </a:rPr>
                                    <m:t>𝐶𝐻𝑂𝐿𝐸𝑆𝑇𝐸𝑅𝑂𝐿</m:t>
                                  </m:r>
                                </m:sub>
                              </m:sSub>
                              <m:r>
                                <a:rPr lang="tr-TR" sz="1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𝑆𝑎𝑚𝑝𝑙𝑒</m:t>
                                  </m:r>
                                </m:e>
                                <m:sub>
                                  <m:r>
                                    <a:rPr lang="tr-TR" sz="1400" i="1" smtClean="0">
                                      <a:latin typeface="Cambria Math" panose="02040503050406030204" pitchFamily="18" charset="0"/>
                                    </a:rPr>
                                    <m:t>𝐶𝐻𝑂𝐿𝐸𝑆𝑇𝐸𝑅𝑂𝐿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𝑆𝑎𝑚𝑝𝑙𝑒</m:t>
                              </m:r>
                            </m:e>
                            <m:sub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𝐴𝐿𝐿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tr-TR" sz="1400" dirty="0"/>
              </a:p>
            </p:txBody>
          </p:sp>
        </mc:Choice>
        <mc:Fallback>
          <p:sp>
            <p:nvSpPr>
              <p:cNvPr id="3" name="Metin kutusu 2">
                <a:extLst>
                  <a:ext uri="{FF2B5EF4-FFF2-40B4-BE49-F238E27FC236}">
                    <a16:creationId xmlns:a16="http://schemas.microsoft.com/office/drawing/2014/main" id="{91F44801-2FDF-20BE-137A-16EC52D92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594" y="2602984"/>
                <a:ext cx="12352594" cy="546753"/>
              </a:xfrm>
              <a:prstGeom prst="rect">
                <a:avLst/>
              </a:prstGeom>
              <a:blipFill>
                <a:blip r:embed="rId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Metin kutusu 6">
                <a:extLst>
                  <a:ext uri="{FF2B5EF4-FFF2-40B4-BE49-F238E27FC236}">
                    <a16:creationId xmlns:a16="http://schemas.microsoft.com/office/drawing/2014/main" id="{9FB061EA-ED24-7CB3-09F8-9E6E3606B5FA}"/>
                  </a:ext>
                </a:extLst>
              </p:cNvPr>
              <p:cNvSpPr txBox="1"/>
              <p:nvPr/>
            </p:nvSpPr>
            <p:spPr>
              <a:xfrm>
                <a:off x="1621105" y="3708264"/>
                <a:ext cx="8789195" cy="629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e>
                        <m: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𝑊𝐸𝐼𝐺𝐻𝑇𝐸𝐷</m:t>
                          </m:r>
                        </m:sub>
                      </m:sSub>
                      <m:r>
                        <a:rPr lang="tr-TR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tr-T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i="0">
                                  <a:latin typeface="Cambria Math" panose="02040503050406030204" pitchFamily="18" charset="0"/>
                                </a:rPr>
                                <m:t>0,8696×55</m:t>
                              </m:r>
                            </m:e>
                          </m:d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tr-T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i="0">
                                  <a:latin typeface="Cambria Math" panose="02040503050406030204" pitchFamily="18" charset="0"/>
                                </a:rPr>
                                <m:t>0,7609×40</m:t>
                              </m:r>
                            </m:e>
                          </m:d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tr-T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i="0">
                                  <a:latin typeface="Cambria Math" panose="02040503050406030204" pitchFamily="18" charset="0"/>
                                </a:rPr>
                                <m:t>0,8491×50</m:t>
                              </m:r>
                            </m:e>
                          </m:d>
                        </m:num>
                        <m:den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145</m:t>
                          </m:r>
                        </m:den>
                      </m:f>
                      <m:r>
                        <a:rPr lang="tr-TR" i="0">
                          <a:latin typeface="Cambria Math" panose="02040503050406030204" pitchFamily="18" charset="0"/>
                        </a:rPr>
                        <m:t>=0,8325</m:t>
                      </m:r>
                    </m:oMath>
                  </m:oMathPara>
                </a14:m>
                <a:endParaRPr lang="tr-TR" dirty="0"/>
              </a:p>
            </p:txBody>
          </p:sp>
        </mc:Choice>
        <mc:Fallback>
          <p:sp>
            <p:nvSpPr>
              <p:cNvPr id="7" name="Metin kutusu 6">
                <a:extLst>
                  <a:ext uri="{FF2B5EF4-FFF2-40B4-BE49-F238E27FC236}">
                    <a16:creationId xmlns:a16="http://schemas.microsoft.com/office/drawing/2014/main" id="{9FB061EA-ED24-7CB3-09F8-9E6E3606B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105" y="3708264"/>
                <a:ext cx="8789195" cy="629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Metin kutusu 8">
                <a:extLst>
                  <a:ext uri="{FF2B5EF4-FFF2-40B4-BE49-F238E27FC236}">
                    <a16:creationId xmlns:a16="http://schemas.microsoft.com/office/drawing/2014/main" id="{CDDF06D2-06CA-488E-C0BD-7558718512AA}"/>
                  </a:ext>
                </a:extLst>
              </p:cNvPr>
              <p:cNvSpPr txBox="1"/>
              <p:nvPr/>
            </p:nvSpPr>
            <p:spPr>
              <a:xfrm>
                <a:off x="2412206" y="4590341"/>
                <a:ext cx="6176962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𝑀𝐴𝐶𝑅𝑂</m:t>
                          </m:r>
                        </m:sub>
                      </m:sSub>
                      <m:r>
                        <a:rPr lang="tr-TR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0,8696+0,7609+0,8491</m:t>
                          </m:r>
                        </m:num>
                        <m:den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tr-TR" i="0">
                          <a:latin typeface="Cambria Math" panose="02040503050406030204" pitchFamily="18" charset="0"/>
                        </a:rPr>
                        <m:t>=0,8265</m:t>
                      </m:r>
                    </m:oMath>
                  </m:oMathPara>
                </a14:m>
                <a:endParaRPr lang="tr-TR" dirty="0"/>
              </a:p>
            </p:txBody>
          </p:sp>
        </mc:Choice>
        <mc:Fallback>
          <p:sp>
            <p:nvSpPr>
              <p:cNvPr id="9" name="Metin kutusu 8">
                <a:extLst>
                  <a:ext uri="{FF2B5EF4-FFF2-40B4-BE49-F238E27FC236}">
                    <a16:creationId xmlns:a16="http://schemas.microsoft.com/office/drawing/2014/main" id="{CDDF06D2-06CA-488E-C0BD-755871851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206" y="4590341"/>
                <a:ext cx="6176962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Metin kutusu 10">
                <a:extLst>
                  <a:ext uri="{FF2B5EF4-FFF2-40B4-BE49-F238E27FC236}">
                    <a16:creationId xmlns:a16="http://schemas.microsoft.com/office/drawing/2014/main" id="{A4D1C3F8-5666-DBA3-7371-4C60485B9446}"/>
                  </a:ext>
                </a:extLst>
              </p:cNvPr>
              <p:cNvSpPr txBox="1"/>
              <p:nvPr/>
            </p:nvSpPr>
            <p:spPr>
              <a:xfrm>
                <a:off x="2927221" y="5455234"/>
                <a:ext cx="6176962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e>
                        <m: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𝑀𝐼𝐶𝑅𝑂</m:t>
                          </m:r>
                        </m:sub>
                      </m:sSub>
                      <m:r>
                        <a:rPr lang="tr-TR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120</m:t>
                          </m:r>
                        </m:num>
                        <m:den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120+25</m:t>
                          </m:r>
                        </m:den>
                      </m:f>
                      <m:r>
                        <a:rPr lang="tr-TR" i="0">
                          <a:latin typeface="Cambria Math" panose="02040503050406030204" pitchFamily="18" charset="0"/>
                        </a:rPr>
                        <m:t>=0,8276</m:t>
                      </m:r>
                    </m:oMath>
                  </m:oMathPara>
                </a14:m>
                <a:endParaRPr lang="tr-TR" dirty="0"/>
              </a:p>
            </p:txBody>
          </p:sp>
        </mc:Choice>
        <mc:Fallback>
          <p:sp>
            <p:nvSpPr>
              <p:cNvPr id="11" name="Metin kutusu 10">
                <a:extLst>
                  <a:ext uri="{FF2B5EF4-FFF2-40B4-BE49-F238E27FC236}">
                    <a16:creationId xmlns:a16="http://schemas.microsoft.com/office/drawing/2014/main" id="{A4D1C3F8-5666-DBA3-7371-4C60485B9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221" y="5455234"/>
                <a:ext cx="6176962" cy="6173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Resim 12" descr="metin, yazı tipi, çizg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E608456-2487-C919-3D41-78873C19FE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731" y="477446"/>
            <a:ext cx="5720269" cy="147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0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355D-84FD-665D-8C5A-1596FB9A2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FBFBAD0E-850A-078E-208D-9E51AE0FBC69}"/>
              </a:ext>
            </a:extLst>
          </p:cNvPr>
          <p:cNvGraphicFramePr>
            <a:graphicFrameLocks noGrp="1"/>
          </p:cNvGraphicFramePr>
          <p:nvPr/>
        </p:nvGraphicFramePr>
        <p:xfrm>
          <a:off x="163256" y="218383"/>
          <a:ext cx="6599495" cy="1991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6483">
                  <a:extLst>
                    <a:ext uri="{9D8B030D-6E8A-4147-A177-3AD203B41FA5}">
                      <a16:colId xmlns:a16="http://schemas.microsoft.com/office/drawing/2014/main" val="2164657532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3298968924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2014778566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1721153934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3783843222"/>
                    </a:ext>
                  </a:extLst>
                </a:gridCol>
              </a:tblGrid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>
                          <a:effectLst/>
                        </a:rPr>
                        <a:t> 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TP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FP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FN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TN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3558810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Diabet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40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6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84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087396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Hypertension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35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11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5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94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9008484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Cholesterol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87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163561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Metin kutusu 2">
                <a:extLst>
                  <a:ext uri="{FF2B5EF4-FFF2-40B4-BE49-F238E27FC236}">
                    <a16:creationId xmlns:a16="http://schemas.microsoft.com/office/drawing/2014/main" id="{E8C18F99-570C-FF10-3D88-CC46206CD4C7}"/>
                  </a:ext>
                </a:extLst>
              </p:cNvPr>
              <p:cNvSpPr txBox="1"/>
              <p:nvPr/>
            </p:nvSpPr>
            <p:spPr>
              <a:xfrm>
                <a:off x="-160594" y="2602984"/>
                <a:ext cx="12352594" cy="5467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𝑊𝐸𝐼𝐺𝐻𝑇𝐸𝐷</m:t>
                          </m:r>
                        </m:sub>
                      </m:sSub>
                      <m:r>
                        <a:rPr lang="tr-TR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b="0" i="1" smtClean="0">
                                      <a:latin typeface="Cambria Math" panose="02040503050406030204" pitchFamily="18" charset="0"/>
                                    </a:rPr>
                                    <m:t>𝑅𝑒𝑐𝑎𝑙𝑙</m:t>
                                  </m:r>
                                </m:e>
                                <m:sub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𝐷𝐼𝐴𝐵𝐸𝑇</m:t>
                                  </m:r>
                                </m:sub>
                              </m:sSub>
                              <m:r>
                                <a:rPr lang="tr-TR" sz="1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𝑆𝑎𝑚𝑝𝑙𝑒</m:t>
                                  </m:r>
                                </m:e>
                                <m:sub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𝐷𝐼𝐴𝐵𝐸𝑇</m:t>
                                  </m:r>
                                </m:sub>
                              </m:sSub>
                            </m:e>
                          </m:d>
                          <m:r>
                            <a:rPr lang="tr-TR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b="0" i="1" smtClean="0">
                                      <a:latin typeface="Cambria Math" panose="02040503050406030204" pitchFamily="18" charset="0"/>
                                    </a:rPr>
                                    <m:t>𝑅𝑒𝑐𝑎𝑙𝑙</m:t>
                                  </m:r>
                                </m:e>
                                <m:sub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𝐻𝑌𝑃𝐸𝑅𝑇𝐸𝑁𝑆𝐼𝑂𝑁</m:t>
                                  </m:r>
                                </m:sub>
                              </m:sSub>
                              <m:r>
                                <a:rPr lang="tr-TR" sz="1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𝑆𝑎𝑚𝑝𝑙𝑒</m:t>
                                  </m:r>
                                </m:e>
                                <m:sub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𝐻𝑌𝑃𝐸𝑅𝑇𝐸𝑁𝑆𝐼𝑂𝑁</m:t>
                                  </m:r>
                                </m:sub>
                              </m:sSub>
                            </m:e>
                          </m:d>
                          <m:r>
                            <a:rPr lang="tr-TR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b="0" i="1" smtClean="0">
                                      <a:latin typeface="Cambria Math" panose="02040503050406030204" pitchFamily="18" charset="0"/>
                                    </a:rPr>
                                    <m:t>𝑅𝑒𝑐𝑎𝑙𝑙</m:t>
                                  </m:r>
                                </m:e>
                                <m:sub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𝐶𝐻𝑂𝐿𝐸𝑆𝑇𝐸𝑅𝑂𝐿</m:t>
                                  </m:r>
                                </m:sub>
                              </m:sSub>
                              <m:r>
                                <a:rPr lang="tr-TR" sz="1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𝑆𝑎𝑚𝑝𝑙𝑒</m:t>
                                  </m:r>
                                </m:e>
                                <m:sub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𝐶𝐻𝑂𝐿𝐸𝑆𝑇𝐸𝑅𝑂𝐿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𝑆𝑎𝑚𝑝𝑙𝑒</m:t>
                              </m:r>
                            </m:e>
                            <m:sub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𝐴𝐿𝐿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tr-TR" sz="1400" dirty="0"/>
              </a:p>
            </p:txBody>
          </p:sp>
        </mc:Choice>
        <mc:Fallback>
          <p:sp>
            <p:nvSpPr>
              <p:cNvPr id="3" name="Metin kutusu 2">
                <a:extLst>
                  <a:ext uri="{FF2B5EF4-FFF2-40B4-BE49-F238E27FC236}">
                    <a16:creationId xmlns:a16="http://schemas.microsoft.com/office/drawing/2014/main" id="{E8C18F99-570C-FF10-3D88-CC46206CD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594" y="2602984"/>
                <a:ext cx="12352594" cy="546753"/>
              </a:xfrm>
              <a:prstGeom prst="rect">
                <a:avLst/>
              </a:prstGeom>
              <a:blipFill>
                <a:blip r:embed="rId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Metin kutusu 6">
                <a:extLst>
                  <a:ext uri="{FF2B5EF4-FFF2-40B4-BE49-F238E27FC236}">
                    <a16:creationId xmlns:a16="http://schemas.microsoft.com/office/drawing/2014/main" id="{A7F9ABD6-2B80-9AC6-526D-57C21B286028}"/>
                  </a:ext>
                </a:extLst>
              </p:cNvPr>
              <p:cNvSpPr txBox="1"/>
              <p:nvPr/>
            </p:nvSpPr>
            <p:spPr>
              <a:xfrm>
                <a:off x="1430605" y="3950266"/>
                <a:ext cx="87891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e>
                        <m: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𝑊𝐸𝐼𝐺𝐻𝑇𝐸𝐷</m:t>
                          </m:r>
                        </m:sub>
                      </m:sSub>
                      <m:r>
                        <a:rPr lang="tr-TR" i="0">
                          <a:latin typeface="Cambria Math" panose="02040503050406030204" pitchFamily="18" charset="0"/>
                        </a:rPr>
                        <m:t>=0,8</m:t>
                      </m:r>
                      <m:r>
                        <a:rPr lang="tr-TR" b="0" i="0" smtClean="0">
                          <a:latin typeface="Cambria Math" panose="02040503050406030204" pitchFamily="18" charset="0"/>
                        </a:rPr>
                        <m:t>280</m:t>
                      </m:r>
                    </m:oMath>
                  </m:oMathPara>
                </a14:m>
                <a:endParaRPr lang="tr-TR" dirty="0"/>
              </a:p>
            </p:txBody>
          </p:sp>
        </mc:Choice>
        <mc:Fallback>
          <p:sp>
            <p:nvSpPr>
              <p:cNvPr id="7" name="Metin kutusu 6">
                <a:extLst>
                  <a:ext uri="{FF2B5EF4-FFF2-40B4-BE49-F238E27FC236}">
                    <a16:creationId xmlns:a16="http://schemas.microsoft.com/office/drawing/2014/main" id="{A7F9ABD6-2B80-9AC6-526D-57C21B286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605" y="3950266"/>
                <a:ext cx="87891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Metin kutusu 1">
                <a:extLst>
                  <a:ext uri="{FF2B5EF4-FFF2-40B4-BE49-F238E27FC236}">
                    <a16:creationId xmlns:a16="http://schemas.microsoft.com/office/drawing/2014/main" id="{B0A16C7F-21DC-89AD-4FC4-F4851839C22C}"/>
                  </a:ext>
                </a:extLst>
              </p:cNvPr>
              <p:cNvSpPr txBox="1"/>
              <p:nvPr/>
            </p:nvSpPr>
            <p:spPr>
              <a:xfrm>
                <a:off x="2488406" y="4771316"/>
                <a:ext cx="6176962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𝑀𝐴𝐶𝑅𝑂</m:t>
                          </m:r>
                        </m:sub>
                      </m:sSub>
                      <m:r>
                        <a:rPr lang="tr-TR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tr-TR" b="0" i="0" smtClean="0">
                              <a:latin typeface="Cambria Math" panose="02040503050406030204" pitchFamily="18" charset="0"/>
                            </a:rPr>
                            <m:t>7273</m:t>
                          </m:r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+0,</m:t>
                          </m:r>
                          <m:r>
                            <a:rPr lang="tr-TR" b="0" i="0" smtClean="0">
                              <a:latin typeface="Cambria Math" panose="02040503050406030204" pitchFamily="18" charset="0"/>
                            </a:rPr>
                            <m:t>8750</m:t>
                          </m:r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+0,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9000</m:t>
                          </m:r>
                        </m:num>
                        <m:den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tr-TR" i="0">
                          <a:latin typeface="Cambria Math" panose="02040503050406030204" pitchFamily="18" charset="0"/>
                        </a:rPr>
                        <m:t>=0,8</m:t>
                      </m:r>
                      <m:r>
                        <a:rPr lang="tr-TR" b="0" i="0" smtClean="0">
                          <a:latin typeface="Cambria Math" panose="02040503050406030204" pitchFamily="18" charset="0"/>
                        </a:rPr>
                        <m:t>341</m:t>
                      </m:r>
                    </m:oMath>
                  </m:oMathPara>
                </a14:m>
                <a:endParaRPr lang="tr-TR" dirty="0"/>
              </a:p>
            </p:txBody>
          </p:sp>
        </mc:Choice>
        <mc:Fallback>
          <p:sp>
            <p:nvSpPr>
              <p:cNvPr id="2" name="Metin kutusu 1">
                <a:extLst>
                  <a:ext uri="{FF2B5EF4-FFF2-40B4-BE49-F238E27FC236}">
                    <a16:creationId xmlns:a16="http://schemas.microsoft.com/office/drawing/2014/main" id="{B0A16C7F-21DC-89AD-4FC4-F4851839C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406" y="4771316"/>
                <a:ext cx="6176962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Metin kutusu 4">
                <a:extLst>
                  <a:ext uri="{FF2B5EF4-FFF2-40B4-BE49-F238E27FC236}">
                    <a16:creationId xmlns:a16="http://schemas.microsoft.com/office/drawing/2014/main" id="{E701D5AD-51FA-10D6-54BC-C6776F58E3D0}"/>
                  </a:ext>
                </a:extLst>
              </p:cNvPr>
              <p:cNvSpPr txBox="1"/>
              <p:nvPr/>
            </p:nvSpPr>
            <p:spPr>
              <a:xfrm>
                <a:off x="2927221" y="5455234"/>
                <a:ext cx="6176962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e>
                        <m: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𝑀𝐼𝐶𝑅𝑂</m:t>
                          </m:r>
                        </m:sub>
                      </m:sSub>
                      <m:r>
                        <a:rPr lang="tr-TR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120</m:t>
                          </m:r>
                        </m:num>
                        <m:den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120+25</m:t>
                          </m:r>
                        </m:den>
                      </m:f>
                      <m:r>
                        <a:rPr lang="tr-TR" i="0">
                          <a:latin typeface="Cambria Math" panose="02040503050406030204" pitchFamily="18" charset="0"/>
                        </a:rPr>
                        <m:t>=0,8276</m:t>
                      </m:r>
                    </m:oMath>
                  </m:oMathPara>
                </a14:m>
                <a:endParaRPr lang="tr-TR" dirty="0"/>
              </a:p>
            </p:txBody>
          </p:sp>
        </mc:Choice>
        <mc:Fallback>
          <p:sp>
            <p:nvSpPr>
              <p:cNvPr id="5" name="Metin kutusu 4">
                <a:extLst>
                  <a:ext uri="{FF2B5EF4-FFF2-40B4-BE49-F238E27FC236}">
                    <a16:creationId xmlns:a16="http://schemas.microsoft.com/office/drawing/2014/main" id="{E701D5AD-51FA-10D6-54BC-C6776F58E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221" y="5455234"/>
                <a:ext cx="6176962" cy="6173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329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2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8E1CA-3F82-90F6-8F50-E1A82AB43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E4D8BCCD-3F49-C909-6AD3-897C32ABE94C}"/>
              </a:ext>
            </a:extLst>
          </p:cNvPr>
          <p:cNvGraphicFramePr>
            <a:graphicFrameLocks noGrp="1"/>
          </p:cNvGraphicFramePr>
          <p:nvPr/>
        </p:nvGraphicFramePr>
        <p:xfrm>
          <a:off x="163256" y="218383"/>
          <a:ext cx="6599495" cy="1991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6483">
                  <a:extLst>
                    <a:ext uri="{9D8B030D-6E8A-4147-A177-3AD203B41FA5}">
                      <a16:colId xmlns:a16="http://schemas.microsoft.com/office/drawing/2014/main" val="2164657532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3298968924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2014778566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1721153934"/>
                    </a:ext>
                  </a:extLst>
                </a:gridCol>
                <a:gridCol w="1290753">
                  <a:extLst>
                    <a:ext uri="{9D8B030D-6E8A-4147-A177-3AD203B41FA5}">
                      <a16:colId xmlns:a16="http://schemas.microsoft.com/office/drawing/2014/main" val="3783843222"/>
                    </a:ext>
                  </a:extLst>
                </a:gridCol>
              </a:tblGrid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u="none" strike="noStrike">
                          <a:effectLst/>
                        </a:rPr>
                        <a:t> 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TP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FP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FN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u="none" strike="noStrike" dirty="0">
                          <a:effectLst/>
                        </a:rPr>
                        <a:t>TN</a:t>
                      </a:r>
                      <a:endParaRPr lang="tr-T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3558810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Diabet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40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6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84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087396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Hypertension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35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11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5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94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9008484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u="none" strike="noStrike" dirty="0" err="1">
                          <a:effectLst/>
                        </a:rPr>
                        <a:t>Cholesterol</a:t>
                      </a:r>
                      <a:endParaRPr lang="tr-T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5</a:t>
                      </a:r>
                      <a:endParaRPr lang="tr-TR" sz="3200" b="1" i="0" u="none" strike="noStrike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3200" b="1" u="none" strike="noStrike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87</a:t>
                      </a:r>
                      <a:endParaRPr lang="tr-TR" sz="32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163561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Metin kutusu 2">
                <a:extLst>
                  <a:ext uri="{FF2B5EF4-FFF2-40B4-BE49-F238E27FC236}">
                    <a16:creationId xmlns:a16="http://schemas.microsoft.com/office/drawing/2014/main" id="{4D0AE184-419E-4B49-D580-27470CAA92B3}"/>
                  </a:ext>
                </a:extLst>
              </p:cNvPr>
              <p:cNvSpPr txBox="1"/>
              <p:nvPr/>
            </p:nvSpPr>
            <p:spPr>
              <a:xfrm>
                <a:off x="-160594" y="2602984"/>
                <a:ext cx="12352594" cy="5467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𝑊𝐸𝐼𝐺𝐻𝑇𝐸𝐷</m:t>
                          </m:r>
                        </m:sub>
                      </m:sSub>
                      <m:r>
                        <a:rPr lang="tr-TR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tr-TR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b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𝐷𝐼𝐴𝐵𝐸𝑇</m:t>
                                  </m:r>
                                </m:sub>
                              </m:sSub>
                              <m:r>
                                <a:rPr lang="tr-TR" sz="1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𝑆𝑎𝑚𝑝𝑙𝑒</m:t>
                                  </m:r>
                                </m:e>
                                <m:sub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𝐷𝐼𝐴𝐵𝐸𝑇</m:t>
                                  </m:r>
                                </m:sub>
                              </m:sSub>
                            </m:e>
                          </m:d>
                          <m:r>
                            <a:rPr lang="tr-TR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tr-TR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b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𝐻𝑌𝑃𝐸𝑅𝑇𝐸𝑁𝑆𝐼𝑂𝑁</m:t>
                                  </m:r>
                                </m:sub>
                              </m:sSub>
                              <m:r>
                                <a:rPr lang="tr-TR" sz="1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𝑆𝑎𝑚𝑝𝑙𝑒</m:t>
                                  </m:r>
                                </m:e>
                                <m:sub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𝐻𝑌𝑃𝐸𝑅𝑇𝐸𝑁𝑆𝐼𝑂𝑁</m:t>
                                  </m:r>
                                </m:sub>
                              </m:sSub>
                            </m:e>
                          </m:d>
                          <m:r>
                            <a:rPr lang="tr-TR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tr-TR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b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𝐶𝐻𝑂𝐿𝐸𝑆𝑇𝐸𝑅𝑂𝐿</m:t>
                                  </m:r>
                                </m:sub>
                              </m:sSub>
                              <m:r>
                                <a:rPr lang="tr-TR" sz="1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𝑆𝑎𝑚𝑝𝑙𝑒</m:t>
                                  </m:r>
                                </m:e>
                                <m:sub>
                                  <m:r>
                                    <a:rPr lang="tr-TR" sz="1400" i="1">
                                      <a:latin typeface="Cambria Math" panose="02040503050406030204" pitchFamily="18" charset="0"/>
                                    </a:rPr>
                                    <m:t>𝐶𝐻𝑂𝐿𝐸𝑆𝑇𝐸𝑅𝑂𝐿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𝑆𝑎𝑚𝑝𝑙𝑒</m:t>
                              </m:r>
                            </m:e>
                            <m:sub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𝐴𝐿𝐿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tr-TR" sz="1400" dirty="0"/>
              </a:p>
            </p:txBody>
          </p:sp>
        </mc:Choice>
        <mc:Fallback>
          <p:sp>
            <p:nvSpPr>
              <p:cNvPr id="3" name="Metin kutusu 2">
                <a:extLst>
                  <a:ext uri="{FF2B5EF4-FFF2-40B4-BE49-F238E27FC236}">
                    <a16:creationId xmlns:a16="http://schemas.microsoft.com/office/drawing/2014/main" id="{4D0AE184-419E-4B49-D580-27470CAA9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594" y="2602984"/>
                <a:ext cx="12352594" cy="546753"/>
              </a:xfrm>
              <a:prstGeom prst="rect">
                <a:avLst/>
              </a:prstGeom>
              <a:blipFill>
                <a:blip r:embed="rId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Metin kutusu 6">
                <a:extLst>
                  <a:ext uri="{FF2B5EF4-FFF2-40B4-BE49-F238E27FC236}">
                    <a16:creationId xmlns:a16="http://schemas.microsoft.com/office/drawing/2014/main" id="{50F70AA7-3265-0BD1-BE07-EE0B13E5EF4B}"/>
                  </a:ext>
                </a:extLst>
              </p:cNvPr>
              <p:cNvSpPr txBox="1"/>
              <p:nvPr/>
            </p:nvSpPr>
            <p:spPr>
              <a:xfrm>
                <a:off x="1701402" y="3646712"/>
                <a:ext cx="87891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𝑊𝐸𝐼𝐺𝐻𝑇𝐸𝐷</m:t>
                          </m:r>
                        </m:sub>
                      </m:sSub>
                      <m:r>
                        <a:rPr lang="tr-TR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i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tr-TR" b="0" i="0" smtClean="0">
                          <a:latin typeface="Cambria Math" panose="02040503050406030204" pitchFamily="18" charset="0"/>
                        </a:rPr>
                        <m:t>310</m:t>
                      </m:r>
                    </m:oMath>
                  </m:oMathPara>
                </a14:m>
                <a:endParaRPr lang="tr-TR" dirty="0"/>
              </a:p>
            </p:txBody>
          </p:sp>
        </mc:Choice>
        <mc:Fallback>
          <p:sp>
            <p:nvSpPr>
              <p:cNvPr id="7" name="Metin kutusu 6">
                <a:extLst>
                  <a:ext uri="{FF2B5EF4-FFF2-40B4-BE49-F238E27FC236}">
                    <a16:creationId xmlns:a16="http://schemas.microsoft.com/office/drawing/2014/main" id="{50F70AA7-3265-0BD1-BE07-EE0B13E5E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402" y="3646712"/>
                <a:ext cx="87891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Metin kutusu 1">
                <a:extLst>
                  <a:ext uri="{FF2B5EF4-FFF2-40B4-BE49-F238E27FC236}">
                    <a16:creationId xmlns:a16="http://schemas.microsoft.com/office/drawing/2014/main" id="{F2F29667-4DF0-1D0C-8849-F1CE0DE6FEA1}"/>
                  </a:ext>
                </a:extLst>
              </p:cNvPr>
              <p:cNvSpPr txBox="1"/>
              <p:nvPr/>
            </p:nvSpPr>
            <p:spPr>
              <a:xfrm>
                <a:off x="2564606" y="4190814"/>
                <a:ext cx="6176962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𝑀𝐴𝐶𝑅𝑂</m:t>
                          </m:r>
                        </m:sub>
                      </m:sSub>
                      <m:r>
                        <a:rPr lang="tr-TR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tr-TR" b="0" i="0" smtClean="0">
                              <a:latin typeface="Cambria Math" panose="02040503050406030204" pitchFamily="18" charset="0"/>
                            </a:rPr>
                            <m:t>7910</m:t>
                          </m:r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+0,</m:t>
                          </m:r>
                          <m:r>
                            <a:rPr lang="tr-TR" b="0" i="0" smtClean="0">
                              <a:latin typeface="Cambria Math" panose="02040503050406030204" pitchFamily="18" charset="0"/>
                            </a:rPr>
                            <m:t>8140</m:t>
                          </m:r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+0,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8740</m:t>
                          </m:r>
                        </m:num>
                        <m:den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tr-TR" i="0">
                          <a:latin typeface="Cambria Math" panose="02040503050406030204" pitchFamily="18" charset="0"/>
                        </a:rPr>
                        <m:t>=0,8</m:t>
                      </m:r>
                      <m:r>
                        <a:rPr lang="tr-TR" b="0" i="0" smtClean="0">
                          <a:latin typeface="Cambria Math" panose="02040503050406030204" pitchFamily="18" charset="0"/>
                        </a:rPr>
                        <m:t>260</m:t>
                      </m:r>
                    </m:oMath>
                  </m:oMathPara>
                </a14:m>
                <a:endParaRPr lang="tr-TR" dirty="0"/>
              </a:p>
            </p:txBody>
          </p:sp>
        </mc:Choice>
        <mc:Fallback>
          <p:sp>
            <p:nvSpPr>
              <p:cNvPr id="2" name="Metin kutusu 1">
                <a:extLst>
                  <a:ext uri="{FF2B5EF4-FFF2-40B4-BE49-F238E27FC236}">
                    <a16:creationId xmlns:a16="http://schemas.microsoft.com/office/drawing/2014/main" id="{F2F29667-4DF0-1D0C-8849-F1CE0DE6F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606" y="4190814"/>
                <a:ext cx="6176962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Metin kutusu 5">
                <a:extLst>
                  <a:ext uri="{FF2B5EF4-FFF2-40B4-BE49-F238E27FC236}">
                    <a16:creationId xmlns:a16="http://schemas.microsoft.com/office/drawing/2014/main" id="{01D82969-A25D-E76D-3D68-781E82C28ADC}"/>
                  </a:ext>
                </a:extLst>
              </p:cNvPr>
              <p:cNvSpPr txBox="1"/>
              <p:nvPr/>
            </p:nvSpPr>
            <p:spPr>
              <a:xfrm>
                <a:off x="390525" y="5254109"/>
                <a:ext cx="1163955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3200" i="1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e>
                        <m:sub>
                          <m:r>
                            <a:rPr lang="tr-TR" sz="3200" i="1">
                              <a:latin typeface="Cambria Math" panose="02040503050406030204" pitchFamily="18" charset="0"/>
                            </a:rPr>
                            <m:t>𝑀𝐼𝐶𝑅𝑂</m:t>
                          </m:r>
                        </m:sub>
                      </m:sSub>
                      <m:r>
                        <a:rPr lang="tr-TR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3200" i="1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e>
                        <m:sub>
                          <m:r>
                            <a:rPr lang="tr-TR" sz="3200" i="1">
                              <a:latin typeface="Cambria Math" panose="02040503050406030204" pitchFamily="18" charset="0"/>
                            </a:rPr>
                            <m:t>𝑀𝐼𝐶𝑅𝑂</m:t>
                          </m:r>
                        </m:sub>
                      </m:sSub>
                      <m:r>
                        <a:rPr lang="tr-TR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tr-TR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tr-TR" sz="3200" i="1">
                              <a:latin typeface="Cambria Math" panose="02040503050406030204" pitchFamily="18" charset="0"/>
                            </a:rPr>
                            <m:t>𝑀𝐼𝐶𝑅𝑂</m:t>
                          </m:r>
                        </m:sub>
                      </m:sSub>
                    </m:oMath>
                  </m:oMathPara>
                </a14:m>
                <a:endParaRPr lang="tr-TR" sz="3200" dirty="0"/>
              </a:p>
            </p:txBody>
          </p:sp>
        </mc:Choice>
        <mc:Fallback>
          <p:sp>
            <p:nvSpPr>
              <p:cNvPr id="6" name="Metin kutusu 5">
                <a:extLst>
                  <a:ext uri="{FF2B5EF4-FFF2-40B4-BE49-F238E27FC236}">
                    <a16:creationId xmlns:a16="http://schemas.microsoft.com/office/drawing/2014/main" id="{01D82969-A25D-E76D-3D68-781E82C28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25" y="5254109"/>
                <a:ext cx="1163955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017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2" grpId="0"/>
      <p:bldP spid="6" grpId="0"/>
    </p:bld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486</Words>
  <Application>Microsoft Office PowerPoint</Application>
  <PresentationFormat>Geniş ekran</PresentationFormat>
  <Paragraphs>286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 Math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FATİH BAL</dc:creator>
  <cp:lastModifiedBy>FATİH BAL</cp:lastModifiedBy>
  <cp:revision>65</cp:revision>
  <dcterms:created xsi:type="dcterms:W3CDTF">2025-10-19T21:07:20Z</dcterms:created>
  <dcterms:modified xsi:type="dcterms:W3CDTF">2025-10-19T22:52:34Z</dcterms:modified>
</cp:coreProperties>
</file>