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4"/>
  </p:notesMasterIdLst>
  <p:sldIdLst>
    <p:sldId id="260" r:id="rId2"/>
    <p:sldId id="379" r:id="rId3"/>
    <p:sldId id="391" r:id="rId4"/>
    <p:sldId id="378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2" r:id="rId17"/>
    <p:sldId id="394" r:id="rId18"/>
    <p:sldId id="393" r:id="rId19"/>
    <p:sldId id="395" r:id="rId20"/>
    <p:sldId id="396" r:id="rId21"/>
    <p:sldId id="397" r:id="rId22"/>
    <p:sldId id="259" r:id="rId23"/>
  </p:sldIdLst>
  <p:sldSz cx="9144000" cy="5143500" type="screen16x9"/>
  <p:notesSz cx="6858000" cy="9144000"/>
  <p:embeddedFontLst>
    <p:embeddedFont>
      <p:font typeface="Anaheim" panose="020B0604020202020204" charset="-94"/>
      <p:regular r:id="rId25"/>
      <p:bold r:id="rId26"/>
    </p:embeddedFont>
    <p:embeddedFont>
      <p:font typeface="Cambria Math" panose="02040503050406030204" pitchFamily="18" charset="0"/>
      <p:regular r:id="rId27"/>
    </p:embeddedFont>
    <p:embeddedFont>
      <p:font typeface="DM Sans" pitchFamily="2" charset="-94"/>
      <p:regular r:id="rId28"/>
      <p:bold r:id="rId29"/>
      <p:italic r:id="rId30"/>
      <p:boldItalic r:id="rId31"/>
    </p:embeddedFont>
    <p:embeddedFont>
      <p:font typeface="Maven Pro" panose="020B0604020202020204" charset="-94"/>
      <p:regular r:id="rId32"/>
      <p:bold r:id="rId33"/>
    </p:embeddedFont>
    <p:embeddedFont>
      <p:font typeface="MuseoModerno Medium" panose="020B0604020202020204" charset="-94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5A26D9-3358-4309-A227-EDEAD8D7FABE}">
  <a:tblStyle styleId="{C65A26D9-3358-4309-A227-EDEAD8D7FA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73" autoAdjust="0"/>
  </p:normalViewPr>
  <p:slideViewPr>
    <p:cSldViewPr snapToGrid="0">
      <p:cViewPr varScale="1">
        <p:scale>
          <a:sx n="138" d="100"/>
          <a:sy n="138" d="100"/>
        </p:scale>
        <p:origin x="87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C90A7099-EC02-0E86-F16B-2C60D04F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EBC23F46-415D-9C25-E6A7-83BE88AA9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411B0650-243E-BB52-FD6F-076C8CB07C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373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E4ED0850-F777-9D46-FDCB-BAA6C678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7C1EF6DF-DD96-E21E-897E-03B157E10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AD3AA9D4-01C6-E414-266F-06854D9B1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6137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B8B7718A-7C7D-9E32-0D46-435DACE4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F0854163-55E9-4720-BED9-FD0DCD412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A78C550A-0E1C-3ADD-B76D-370C2E5AD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865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04F90F43-A8C6-6D53-B2B6-D2B48152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9179F54C-AE57-B1F5-CB22-BFA86AC0E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9D8828BE-185F-A91D-A229-73D41E12C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089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B0EB5884-792C-0888-64DC-23524942A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7352D53D-68FE-5B7A-8959-EF115C4D6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D50340F8-4FA8-ACAC-6B35-CA80641F6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1939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75C9DFDB-E9A7-B616-BFD0-7376E359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728B9788-42F2-BBC5-373A-5F8EEB7F8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576AB141-4025-D72F-7BA4-181C5ABA9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0880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9519B176-7F9F-8FFC-39E1-E75EAA53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ECB9F75D-7A5D-A696-E178-3AC756860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E8074362-DEE6-8306-43D2-4A11D3BC16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360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B33B9EC6-2497-1AB3-CD1C-8F0C9BCC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A6EDE4F9-E22D-3659-CBC3-0BCF14FE27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B8B50C00-D0A9-0D92-1AB1-61A9B2D69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6081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FA82B3B2-E595-A66E-1D71-C6216CA0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374EF221-BBB6-8D26-1CF0-64258FE74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DC72D789-F3E1-6469-BF0A-FE9D740A5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7677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AB456D8A-18AE-1DCE-3473-6D010FD6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9FDA11F8-6611-A66A-A542-F03AABB229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A5847F22-CF42-78B4-61AC-FEE7DFC58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7185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66F57598-9965-4BF8-3C8E-EC523645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9E554F07-547F-ADE9-76F8-EAB6A3DF9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38D417AD-C0A1-1057-FA19-BCFD6CC6B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622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CE41FDAE-CA31-12A1-72D6-CAA868084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E8D07F43-58DC-F7A3-724D-5E50296E5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641387BA-8777-497D-C463-57BF4550C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139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457D7C71-8816-5AB8-C128-58DD6574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BA48A176-A75B-5F23-E65A-CF0EB43BE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E7B1F01E-8A15-3FEC-15E6-8A10EEF5B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394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55700033-215D-C8DE-1C81-6B17B4E5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7F46D31D-25B2-A64A-411E-CC7A5C024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31DFD110-EE55-F18C-B56F-4350E15725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770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3F5BE769-78BD-5CD6-A8A4-449B56D2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8809E49D-5036-1796-C719-367F014BD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A8327AEE-E721-AA1F-96BC-53C885DB9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481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9D022C94-DD22-7988-7422-3E7A5A4B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04778906-562F-DE2C-97B2-8686B35C11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5E58F0E0-BC62-81E6-DFBA-06DB8DDF0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4590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6FAC63D8-4A4B-0927-FC49-22C8F979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0C59807D-99FB-CE86-6D9E-9612AA5EB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C2170500-EFCA-7FB2-5E20-E61044F65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109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E9373375-30AA-3B86-7849-31824899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84CD070E-2F0F-9981-D31B-35300E964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A2EA60E3-E8D3-C731-4AAB-6D786FF490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4142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2672EE75-699E-A2FA-947D-A2F3CD6A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299AD766-9579-C511-CD90-6EC901782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F06D87EA-727E-88A7-CCFB-822B29428D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8354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561F06A3-95F6-27BE-A1B4-EDB37A56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>
            <a:extLst>
              <a:ext uri="{FF2B5EF4-FFF2-40B4-BE49-F238E27FC236}">
                <a16:creationId xmlns:a16="http://schemas.microsoft.com/office/drawing/2014/main" id="{C5EBF653-3C86-BA10-9BA0-DF9E221303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>
            <a:extLst>
              <a:ext uri="{FF2B5EF4-FFF2-40B4-BE49-F238E27FC236}">
                <a16:creationId xmlns:a16="http://schemas.microsoft.com/office/drawing/2014/main" id="{8AED8A15-B004-A1FD-3FB1-580F9F3A6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94469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249375" y="2717600"/>
            <a:ext cx="41814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5514025" y="17200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4249375" y="4229000"/>
            <a:ext cx="4181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2414775"/>
            <a:ext cx="33267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713225" y="3576200"/>
            <a:ext cx="33267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2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3"/>
          </p:nvPr>
        </p:nvSpPr>
        <p:spPr>
          <a:xfrm>
            <a:off x="720000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4"/>
          </p:nvPr>
        </p:nvSpPr>
        <p:spPr>
          <a:xfrm>
            <a:off x="3419271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5" hasCustomPrompt="1"/>
          </p:nvPr>
        </p:nvSpPr>
        <p:spPr>
          <a:xfrm>
            <a:off x="1505400" y="1245075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6" hasCustomPrompt="1"/>
          </p:nvPr>
        </p:nvSpPr>
        <p:spPr>
          <a:xfrm>
            <a:off x="1505400" y="3066797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7" hasCustomPrompt="1"/>
          </p:nvPr>
        </p:nvSpPr>
        <p:spPr>
          <a:xfrm>
            <a:off x="4204671" y="1245075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8" hasCustomPrompt="1"/>
          </p:nvPr>
        </p:nvSpPr>
        <p:spPr>
          <a:xfrm>
            <a:off x="4204671" y="3066797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9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3"/>
          </p:nvPr>
        </p:nvSpPr>
        <p:spPr>
          <a:xfrm>
            <a:off x="3419271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4"/>
          </p:nvPr>
        </p:nvSpPr>
        <p:spPr>
          <a:xfrm>
            <a:off x="720000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5"/>
          </p:nvPr>
        </p:nvSpPr>
        <p:spPr>
          <a:xfrm>
            <a:off x="3419271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6"/>
          </p:nvPr>
        </p:nvSpPr>
        <p:spPr>
          <a:xfrm>
            <a:off x="6118546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7"/>
          </p:nvPr>
        </p:nvSpPr>
        <p:spPr>
          <a:xfrm>
            <a:off x="6118546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8" hasCustomPrompt="1"/>
          </p:nvPr>
        </p:nvSpPr>
        <p:spPr>
          <a:xfrm>
            <a:off x="6903946" y="1245074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9" hasCustomPrompt="1"/>
          </p:nvPr>
        </p:nvSpPr>
        <p:spPr>
          <a:xfrm>
            <a:off x="6903946" y="3066800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20"/>
          </p:nvPr>
        </p:nvSpPr>
        <p:spPr>
          <a:xfrm>
            <a:off x="6118546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21"/>
          </p:nvPr>
        </p:nvSpPr>
        <p:spPr>
          <a:xfrm>
            <a:off x="6118546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86" name="Google Shape;86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13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92" name="Google Shape;92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2"/>
          <p:cNvGrpSpPr/>
          <p:nvPr/>
        </p:nvGrpSpPr>
        <p:grpSpPr>
          <a:xfrm>
            <a:off x="4067150" y="539500"/>
            <a:ext cx="1009703" cy="130500"/>
            <a:chOff x="5461400" y="616025"/>
            <a:chExt cx="1009703" cy="130500"/>
          </a:xfrm>
        </p:grpSpPr>
        <p:sp>
          <p:nvSpPr>
            <p:cNvPr id="313" name="Google Shape;313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067150" y="4473500"/>
            <a:ext cx="1009703" cy="130500"/>
            <a:chOff x="5461400" y="616025"/>
            <a:chExt cx="1009703" cy="130500"/>
          </a:xfrm>
        </p:grpSpPr>
        <p:sp>
          <p:nvSpPr>
            <p:cNvPr id="319" name="Google Shape;319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3"/>
          <p:cNvGrpSpPr/>
          <p:nvPr/>
        </p:nvGrpSpPr>
        <p:grpSpPr>
          <a:xfrm rot="-5400000">
            <a:off x="273625" y="2506500"/>
            <a:ext cx="1009703" cy="130500"/>
            <a:chOff x="5461400" y="616025"/>
            <a:chExt cx="1009703" cy="130500"/>
          </a:xfrm>
        </p:grpSpPr>
        <p:sp>
          <p:nvSpPr>
            <p:cNvPr id="326" name="Google Shape;326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 rot="-5400000">
            <a:off x="7860675" y="2506500"/>
            <a:ext cx="1009703" cy="130500"/>
            <a:chOff x="5461400" y="616025"/>
            <a:chExt cx="1009703" cy="130500"/>
          </a:xfrm>
        </p:grpSpPr>
        <p:sp>
          <p:nvSpPr>
            <p:cNvPr id="332" name="Google Shape;332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useoModerno Medium"/>
              <a:buNone/>
              <a:defRPr sz="35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8" r:id="rId3"/>
    <p:sldLayoutId id="2147483659" r:id="rId4"/>
    <p:sldLayoutId id="2147483678" r:id="rId5"/>
    <p:sldLayoutId id="214748367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10" Type="http://schemas.openxmlformats.org/officeDocument/2006/relationships/image" Target="../media/image42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41"/>
          <p:cNvSpPr txBox="1">
            <a:spLocks noGrp="1"/>
          </p:cNvSpPr>
          <p:nvPr>
            <p:ph type="title"/>
          </p:nvPr>
        </p:nvSpPr>
        <p:spPr>
          <a:xfrm>
            <a:off x="4249375" y="2717600"/>
            <a:ext cx="41814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latin typeface="Maven Pro" panose="020B0604020202020204" charset="-94"/>
              </a:rPr>
              <a:t>Decision</a:t>
            </a:r>
            <a:r>
              <a:rPr lang="tr-TR" b="1" dirty="0">
                <a:latin typeface="Maven Pro" panose="020B0604020202020204" charset="-94"/>
              </a:rPr>
              <a:t> </a:t>
            </a:r>
            <a:r>
              <a:rPr lang="tr-TR" b="1" dirty="0" err="1">
                <a:latin typeface="Maven Pro" panose="020B0604020202020204" charset="-94"/>
              </a:rPr>
              <a:t>Tree</a:t>
            </a:r>
            <a:r>
              <a:rPr lang="tr-TR" b="1" dirty="0">
                <a:latin typeface="Maven Pro" panose="020B0604020202020204" charset="-94"/>
              </a:rPr>
              <a:t> </a:t>
            </a:r>
            <a:r>
              <a:rPr lang="tr-TR" sz="1800" b="1" dirty="0">
                <a:solidFill>
                  <a:srgbClr val="FF0000"/>
                </a:solidFill>
                <a:latin typeface="Maven Pro" panose="020B0604020202020204" charset="-94"/>
              </a:rPr>
              <a:t>(Örnek 2)</a:t>
            </a:r>
            <a:endParaRPr b="1" dirty="0">
              <a:solidFill>
                <a:srgbClr val="FF0000"/>
              </a:solidFill>
              <a:latin typeface="Maven Pro" panose="020B0604020202020204" charset="-94"/>
            </a:endParaRPr>
          </a:p>
        </p:txBody>
      </p:sp>
      <p:sp>
        <p:nvSpPr>
          <p:cNvPr id="1254" name="Google Shape;1254;p41"/>
          <p:cNvSpPr txBox="1">
            <a:spLocks noGrp="1"/>
          </p:cNvSpPr>
          <p:nvPr>
            <p:ph type="title" idx="2"/>
          </p:nvPr>
        </p:nvSpPr>
        <p:spPr>
          <a:xfrm>
            <a:off x="5514025" y="17200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tr-TR" dirty="0"/>
              <a:t>2</a:t>
            </a:r>
            <a:endParaRPr dirty="0"/>
          </a:p>
        </p:txBody>
      </p:sp>
      <p:grpSp>
        <p:nvGrpSpPr>
          <p:cNvPr id="1256" name="Google Shape;1256;p41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1257" name="Google Shape;1257;p4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41"/>
          <p:cNvGrpSpPr/>
          <p:nvPr/>
        </p:nvGrpSpPr>
        <p:grpSpPr>
          <a:xfrm>
            <a:off x="836225" y="4473500"/>
            <a:ext cx="1009703" cy="130500"/>
            <a:chOff x="5461400" y="616025"/>
            <a:chExt cx="1009703" cy="130500"/>
          </a:xfrm>
        </p:grpSpPr>
        <p:sp>
          <p:nvSpPr>
            <p:cNvPr id="1263" name="Google Shape;1263;p4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4" name="Resim 1483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767AF365-4C1E-FC39-A36A-E3E386CB8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1485" name="Google Shape;670;p39">
            <a:extLst>
              <a:ext uri="{FF2B5EF4-FFF2-40B4-BE49-F238E27FC236}">
                <a16:creationId xmlns:a16="http://schemas.microsoft.com/office/drawing/2014/main" id="{B152AA8E-93E9-E8A0-F052-B74ABBB804D9}"/>
              </a:ext>
            </a:extLst>
          </p:cNvPr>
          <p:cNvSpPr txBox="1">
            <a:spLocks/>
          </p:cNvSpPr>
          <p:nvPr/>
        </p:nvSpPr>
        <p:spPr>
          <a:xfrm>
            <a:off x="2258810" y="4957361"/>
            <a:ext cx="4626379" cy="18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0" i="0" u="none" strike="noStrike" cap="none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tr-TR" sz="700" b="1" dirty="0">
                <a:solidFill>
                  <a:schemeClr val="accent1"/>
                </a:solidFill>
                <a:latin typeface="Maven Pro" panose="020B0604020202020204" charset="-94"/>
              </a:rPr>
              <a:t>Dr. Öğr. Üyesi Fatih BAL | Kırklareli Üniversitesi | Yazılım Mühendisliği Bölümü | Derin Öğrenme | 2025 </a:t>
            </a:r>
          </a:p>
        </p:txBody>
      </p:sp>
      <p:pic>
        <p:nvPicPr>
          <p:cNvPr id="3" name="Resim 2" descr="taslak, çizim, resim, sanat içeren bir resim&#10;&#10;Açıklama otomatik olarak oluşturuldu">
            <a:extLst>
              <a:ext uri="{FF2B5EF4-FFF2-40B4-BE49-F238E27FC236}">
                <a16:creationId xmlns:a16="http://schemas.microsoft.com/office/drawing/2014/main" id="{5F884BD1-50B3-8C3D-44FD-7D79C0E80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83" y="969527"/>
            <a:ext cx="4443794" cy="3332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EC30F8F9-8BD0-3E0B-07B4-BCC0F5CC5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25C759AE-A51C-F67C-8EF8-3AC10D3E7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pic>
        <p:nvPicPr>
          <p:cNvPr id="7" name="Resim 6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E37A82D-B0AA-F4A7-1CC6-9BD94DBDA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109" y="0"/>
            <a:ext cx="42614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7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99A78674-94E6-B0A5-ACE3-5E7507B3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636187EF-0C92-28A2-6930-AD116CC1B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Google Shape;1253;p41">
            <a:extLst>
              <a:ext uri="{FF2B5EF4-FFF2-40B4-BE49-F238E27FC236}">
                <a16:creationId xmlns:a16="http://schemas.microsoft.com/office/drawing/2014/main" id="{B288DBAD-ED08-E423-A31E-2DA464E81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1300" y="1816050"/>
            <a:ext cx="41814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latin typeface="Maven Pro" panose="020B0604020202020204" charset="-94"/>
              </a:rPr>
              <a:t>I. AŞAMA</a:t>
            </a:r>
            <a:endParaRPr b="1" dirty="0">
              <a:solidFill>
                <a:srgbClr val="FF0000"/>
              </a:solidFill>
              <a:latin typeface="Maven Pro" panose="020B0604020202020204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48058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006437D3-CE15-4774-316F-C91E1EEC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EC6B28D3-C955-4F49-558D-BA71B3903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pic>
        <p:nvPicPr>
          <p:cNvPr id="7" name="Resim 6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34C562C-F136-E7BE-BAB0-2A191C0E6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400" y="50400"/>
            <a:ext cx="2937600" cy="4608000"/>
          </a:xfrm>
          <a:prstGeom prst="rect">
            <a:avLst/>
          </a:prstGeom>
        </p:spPr>
      </p:pic>
      <p:sp>
        <p:nvSpPr>
          <p:cNvPr id="20" name="Dikdörtgen 19">
            <a:extLst>
              <a:ext uri="{FF2B5EF4-FFF2-40B4-BE49-F238E27FC236}">
                <a16:creationId xmlns:a16="http://schemas.microsoft.com/office/drawing/2014/main" id="{A016F2C7-B476-9A42-03C1-3C22D5469F2F}"/>
              </a:ext>
            </a:extLst>
          </p:cNvPr>
          <p:cNvSpPr/>
          <p:nvPr/>
        </p:nvSpPr>
        <p:spPr>
          <a:xfrm>
            <a:off x="8239827" y="336204"/>
            <a:ext cx="740467" cy="7941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1D0B8F82-A9B1-8407-5C3B-B842BFC1EFD0}"/>
              </a:ext>
            </a:extLst>
          </p:cNvPr>
          <p:cNvSpPr/>
          <p:nvPr/>
        </p:nvSpPr>
        <p:spPr>
          <a:xfrm>
            <a:off x="8244323" y="1209211"/>
            <a:ext cx="740467" cy="120278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1B0DF87D-49BF-4135-7716-44CB9F425487}"/>
              </a:ext>
            </a:extLst>
          </p:cNvPr>
          <p:cNvSpPr/>
          <p:nvPr/>
        </p:nvSpPr>
        <p:spPr>
          <a:xfrm>
            <a:off x="8239827" y="2489355"/>
            <a:ext cx="740467" cy="209168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003A3F18-C739-3E76-0AF6-2F2F4B9703EA}"/>
              </a:ext>
            </a:extLst>
          </p:cNvPr>
          <p:cNvSpPr txBox="1"/>
          <p:nvPr/>
        </p:nvSpPr>
        <p:spPr>
          <a:xfrm>
            <a:off x="3946398" y="470503"/>
            <a:ext cx="1539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FFFF00"/>
                </a:highlight>
              </a:rPr>
              <a:t>Düşük</a:t>
            </a:r>
            <a:r>
              <a:rPr lang="tr-TR" sz="1000" dirty="0"/>
              <a:t>) = 4 / 20 = </a:t>
            </a:r>
            <a:r>
              <a:rPr lang="tr-TR" sz="1000" b="1" dirty="0">
                <a:solidFill>
                  <a:srgbClr val="FF0000"/>
                </a:solidFill>
              </a:rPr>
              <a:t>0,2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FD64921C-02C0-F8D8-766A-293ECB2B6AB1}"/>
              </a:ext>
            </a:extLst>
          </p:cNvPr>
          <p:cNvSpPr txBox="1"/>
          <p:nvPr/>
        </p:nvSpPr>
        <p:spPr>
          <a:xfrm>
            <a:off x="3946398" y="778280"/>
            <a:ext cx="1425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00"/>
                </a:highlight>
              </a:rPr>
              <a:t>Orta</a:t>
            </a:r>
            <a:r>
              <a:rPr lang="tr-TR" sz="1000" dirty="0"/>
              <a:t>) = 6 / 20 = </a:t>
            </a:r>
            <a:r>
              <a:rPr lang="tr-TR" sz="1000" b="1" dirty="0">
                <a:solidFill>
                  <a:srgbClr val="FF0000"/>
                </a:solidFill>
              </a:rPr>
              <a:t>0,3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C841F067-35DE-1619-7CB4-F010AA985828}"/>
              </a:ext>
            </a:extLst>
          </p:cNvPr>
          <p:cNvSpPr txBox="1"/>
          <p:nvPr/>
        </p:nvSpPr>
        <p:spPr>
          <a:xfrm>
            <a:off x="3946398" y="1086057"/>
            <a:ext cx="1665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FF"/>
                </a:highlight>
              </a:rPr>
              <a:t>Yüksek</a:t>
            </a:r>
            <a:r>
              <a:rPr lang="tr-TR" sz="1000" dirty="0"/>
              <a:t>) = 10 / 20 = </a:t>
            </a:r>
            <a:r>
              <a:rPr lang="tr-TR" sz="1000" b="1" dirty="0">
                <a:solidFill>
                  <a:srgbClr val="FF0000"/>
                </a:solidFill>
              </a:rPr>
              <a:t>0,5</a:t>
            </a:r>
            <a:endParaRPr lang="tr-T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Metin kutusu 25">
                <a:extLst>
                  <a:ext uri="{FF2B5EF4-FFF2-40B4-BE49-F238E27FC236}">
                    <a16:creationId xmlns:a16="http://schemas.microsoft.com/office/drawing/2014/main" id="{B73A8C7C-2BCB-6A6C-78BE-4DF475484135}"/>
                  </a:ext>
                </a:extLst>
              </p:cNvPr>
              <p:cNvSpPr txBox="1"/>
              <p:nvPr/>
            </p:nvSpPr>
            <p:spPr>
              <a:xfrm>
                <a:off x="697913" y="665954"/>
                <a:ext cx="2763792" cy="6981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tr-TR" i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tr-T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tr-T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26" name="Metin kutusu 25">
                <a:extLst>
                  <a:ext uri="{FF2B5EF4-FFF2-40B4-BE49-F238E27FC236}">
                    <a16:creationId xmlns:a16="http://schemas.microsoft.com/office/drawing/2014/main" id="{B73A8C7C-2BCB-6A6C-78BE-4DF475484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13" y="665954"/>
                <a:ext cx="2763792" cy="6981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Metin kutusu 27">
                <a:extLst>
                  <a:ext uri="{FF2B5EF4-FFF2-40B4-BE49-F238E27FC236}">
                    <a16:creationId xmlns:a16="http://schemas.microsoft.com/office/drawing/2014/main" id="{3A716005-6608-E592-FF3F-8A893F5CB8CF}"/>
                  </a:ext>
                </a:extLst>
              </p:cNvPr>
              <p:cNvSpPr txBox="1"/>
              <p:nvPr/>
            </p:nvSpPr>
            <p:spPr>
              <a:xfrm>
                <a:off x="76112" y="1563711"/>
                <a:ext cx="5950288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tr-TR" sz="1200" b="1">
                              <a:latin typeface="Cambria Math" panose="02040503050406030204" pitchFamily="18" charset="0"/>
                            </a:rPr>
                            <m:t>𝑩𝒊𝒏𝒂𝑹𝒊𝒔𝒌𝑫𝒖𝒓𝒖𝒎𝒖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0.2∗</m:t>
                          </m:r>
                          <m:sSub>
                            <m:sSubPr>
                              <m:ctrlPr>
                                <a:rPr lang="tr-TR" sz="1200" i="1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tr-TR" sz="1200" i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tr-TR" sz="1200" i="1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1200" i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d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tr-TR" sz="1200" i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0.3∗</m:t>
                          </m:r>
                          <m:sSub>
                            <m:sSubPr>
                              <m:ctrlPr>
                                <a:rPr lang="tr-TR" sz="1200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tr-TR" sz="1200" i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tr-TR" sz="1200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1200" i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</m:d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tr-TR" sz="1200" i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0.5∗</m:t>
                          </m:r>
                          <m:sSub>
                            <m:sSubPr>
                              <m:ctrlPr>
                                <a:rPr lang="tr-TR" sz="1200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tr-TR" sz="1200" i="0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tr-TR" sz="1200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1200" i="0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28" name="Metin kutusu 27">
                <a:extLst>
                  <a:ext uri="{FF2B5EF4-FFF2-40B4-BE49-F238E27FC236}">
                    <a16:creationId xmlns:a16="http://schemas.microsoft.com/office/drawing/2014/main" id="{3A716005-6608-E592-FF3F-8A893F5CB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2" y="1563711"/>
                <a:ext cx="5950288" cy="300788"/>
              </a:xfrm>
              <a:prstGeom prst="rect">
                <a:avLst/>
              </a:prstGeom>
              <a:blipFill>
                <a:blip r:embed="rId6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Metin kutusu 28">
                <a:extLst>
                  <a:ext uri="{FF2B5EF4-FFF2-40B4-BE49-F238E27FC236}">
                    <a16:creationId xmlns:a16="http://schemas.microsoft.com/office/drawing/2014/main" id="{DB6D7859-7B4A-56AF-EAC7-E123300D62FA}"/>
                  </a:ext>
                </a:extLst>
              </p:cNvPr>
              <p:cNvSpPr txBox="1"/>
              <p:nvPr/>
            </p:nvSpPr>
            <p:spPr>
              <a:xfrm>
                <a:off x="1214084" y="1953767"/>
                <a:ext cx="328214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tr-TR" sz="1100" i="1" smtClean="0"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tr-TR" sz="1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tr-TR" sz="1100" b="1">
                            <a:latin typeface="Cambria Math" panose="02040503050406030204" pitchFamily="18" charset="0"/>
                          </a:rPr>
                          <m:t>𝑩𝒊𝒏𝒂𝑹𝒊𝒔𝒌𝑫𝒖𝒓𝒖𝒎𝒖</m:t>
                        </m:r>
                      </m:e>
                    </m:d>
                    <m:r>
                      <a:rPr lang="tr-TR" sz="11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tr-TR" sz="1100" dirty="0"/>
                  <a:t> </a:t>
                </a:r>
                <a:r>
                  <a:rPr lang="tr-TR" sz="1100" b="1" dirty="0"/>
                  <a:t>1,485475297</a:t>
                </a:r>
                <a:r>
                  <a:rPr lang="tr-TR" sz="1100" dirty="0"/>
                  <a:t> </a:t>
                </a:r>
              </a:p>
            </p:txBody>
          </p:sp>
        </mc:Choice>
        <mc:Fallback xmlns="">
          <p:sp>
            <p:nvSpPr>
              <p:cNvPr id="29" name="Metin kutusu 28">
                <a:extLst>
                  <a:ext uri="{FF2B5EF4-FFF2-40B4-BE49-F238E27FC236}">
                    <a16:creationId xmlns:a16="http://schemas.microsoft.com/office/drawing/2014/main" id="{DB6D7859-7B4A-56AF-EAC7-E123300D6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084" y="1953767"/>
                <a:ext cx="3282142" cy="261610"/>
              </a:xfrm>
              <a:prstGeom prst="rect">
                <a:avLst/>
              </a:prstGeom>
              <a:blipFill>
                <a:blip r:embed="rId7"/>
                <a:stretch>
                  <a:fillRect b="-1395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Resim 30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FB326AF-CF09-8F09-EFD3-FA880BFE8E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659" y="2329659"/>
            <a:ext cx="5186943" cy="1792399"/>
          </a:xfrm>
          <a:prstGeom prst="rect">
            <a:avLst/>
          </a:prstGeom>
        </p:spPr>
      </p:pic>
      <p:sp>
        <p:nvSpPr>
          <p:cNvPr id="673" name="Metin kutusu 672">
            <a:extLst>
              <a:ext uri="{FF2B5EF4-FFF2-40B4-BE49-F238E27FC236}">
                <a16:creationId xmlns:a16="http://schemas.microsoft.com/office/drawing/2014/main" id="{136DA89B-CAD2-7D9F-84FE-CED7CA74F452}"/>
              </a:ext>
            </a:extLst>
          </p:cNvPr>
          <p:cNvSpPr txBox="1"/>
          <p:nvPr/>
        </p:nvSpPr>
        <p:spPr>
          <a:xfrm>
            <a:off x="408518" y="50400"/>
            <a:ext cx="3342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b="1" dirty="0">
                <a:solidFill>
                  <a:schemeClr val="accent2">
                    <a:lumMod val="75000"/>
                  </a:schemeClr>
                </a:solidFill>
              </a:rPr>
              <a:t>Bina Risk Durumu</a:t>
            </a:r>
            <a:r>
              <a:rPr lang="tr-TR" sz="1600" b="1" dirty="0"/>
              <a:t>nun Entropisi</a:t>
            </a:r>
          </a:p>
        </p:txBody>
      </p:sp>
    </p:spTree>
    <p:extLst>
      <p:ext uri="{BB962C8B-B14F-4D97-AF65-F5344CB8AC3E}">
        <p14:creationId xmlns:p14="http://schemas.microsoft.com/office/powerpoint/2010/main" val="70359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EA6FD4F2-10D5-B033-62B5-F34ECE1B6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C172CB49-EA85-CE3E-005B-6A5C12A37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358FD13C-6FE7-BBC9-BC18-9FFCA25AFB3C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1FA44FD-D8A0-C760-C0A9-2E4E25E7B53B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64FD4DE3-7AF8-F59E-F775-FC7C3C5AFE15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etin kutusu 7">
                <a:extLst>
                  <a:ext uri="{FF2B5EF4-FFF2-40B4-BE49-F238E27FC236}">
                    <a16:creationId xmlns:a16="http://schemas.microsoft.com/office/drawing/2014/main" id="{58C316F2-9885-8A01-39EA-153CF703E742}"/>
                  </a:ext>
                </a:extLst>
              </p:cNvPr>
              <p:cNvSpPr txBox="1"/>
              <p:nvPr/>
            </p:nvSpPr>
            <p:spPr>
              <a:xfrm>
                <a:off x="103430" y="2049309"/>
                <a:ext cx="57634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𝐵𝑖𝑛𝑎𝑌𝑎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şı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0−10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𝑌𝑎𝑠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11−20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𝑌𝑎𝑠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𝑣𝑒</m:t>
                              </m:r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Ü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𝑧𝑒𝑟𝑖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8" name="Metin kutusu 7">
                <a:extLst>
                  <a:ext uri="{FF2B5EF4-FFF2-40B4-BE49-F238E27FC236}">
                    <a16:creationId xmlns:a16="http://schemas.microsoft.com/office/drawing/2014/main" id="{58C316F2-9885-8A01-39EA-153CF703E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0" y="2049309"/>
                <a:ext cx="5763400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Resim 9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C2F6582-C19E-FEEA-FBD0-8091DD271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94" y="41919"/>
            <a:ext cx="3127206" cy="4291781"/>
          </a:xfrm>
          <a:prstGeom prst="rect">
            <a:avLst/>
          </a:prstGeom>
        </p:spPr>
      </p:pic>
      <p:pic>
        <p:nvPicPr>
          <p:cNvPr id="12" name="Resim 11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5A22C58-CA08-320C-3E7F-CAC6569E20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979" y="2730018"/>
            <a:ext cx="3514456" cy="1436403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67B3DEC2-6901-12FD-7B22-2D0BAF74FF20}"/>
              </a:ext>
            </a:extLst>
          </p:cNvPr>
          <p:cNvSpPr txBox="1"/>
          <p:nvPr/>
        </p:nvSpPr>
        <p:spPr>
          <a:xfrm>
            <a:off x="496186" y="1596972"/>
            <a:ext cx="5570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FF"/>
                </a:highlight>
              </a:rPr>
              <a:t>Bina Yaşı</a:t>
            </a:r>
            <a:r>
              <a:rPr lang="tr-TR" dirty="0"/>
              <a:t> 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</p:spTree>
    <p:extLst>
      <p:ext uri="{BB962C8B-B14F-4D97-AF65-F5344CB8AC3E}">
        <p14:creationId xmlns:p14="http://schemas.microsoft.com/office/powerpoint/2010/main" val="316612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99DAF4B0-725B-88E9-2BBF-58A4ED11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12A9DCC1-71B5-C034-D754-221FFFBB0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85FFF926-B734-442D-A47D-B6E7883DFE4A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CB8AA08-F861-1068-A38B-0326111B20B9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8F0187D9-E0C1-FCFC-92F2-D747539A9D7A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Resim 9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DADC3A2-B553-FEBC-774E-79FA51FE3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606" y="41920"/>
            <a:ext cx="2116394" cy="2529830"/>
          </a:xfrm>
          <a:prstGeom prst="rect">
            <a:avLst/>
          </a:prstGeom>
        </p:spPr>
      </p:pic>
      <p:pic>
        <p:nvPicPr>
          <p:cNvPr id="12" name="Resim 11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E521052-D498-5B27-9A71-1BBD81515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98" y="1874783"/>
            <a:ext cx="3514456" cy="1436403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69B2350F-A8AE-F0FC-6060-6773E9F0AFDD}"/>
              </a:ext>
            </a:extLst>
          </p:cNvPr>
          <p:cNvSpPr txBox="1"/>
          <p:nvPr/>
        </p:nvSpPr>
        <p:spPr>
          <a:xfrm>
            <a:off x="496186" y="1596972"/>
            <a:ext cx="5577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FF"/>
                </a:highlight>
              </a:rPr>
              <a:t>Bina Yaşı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CFA7EE9-74CD-000D-BAF5-CB1FE6B26063}"/>
              </a:ext>
            </a:extLst>
          </p:cNvPr>
          <p:cNvSpPr txBox="1"/>
          <p:nvPr/>
        </p:nvSpPr>
        <p:spPr>
          <a:xfrm>
            <a:off x="496186" y="1959509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FFFF00"/>
                </a:highlight>
              </a:rPr>
              <a:t>Düşük</a:t>
            </a:r>
            <a:r>
              <a:rPr lang="tr-TR" sz="1000" dirty="0"/>
              <a:t>) = 1 / 6 = </a:t>
            </a:r>
            <a:r>
              <a:rPr lang="tr-TR" sz="1000" b="1" dirty="0">
                <a:solidFill>
                  <a:srgbClr val="FF0000"/>
                </a:solidFill>
              </a:rPr>
              <a:t>0,1667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153DC7E-61E1-2934-1A70-BE981ED1AB2A}"/>
              </a:ext>
            </a:extLst>
          </p:cNvPr>
          <p:cNvSpPr txBox="1"/>
          <p:nvPr/>
        </p:nvSpPr>
        <p:spPr>
          <a:xfrm>
            <a:off x="496186" y="2267286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00"/>
                </a:highlight>
              </a:rPr>
              <a:t>Orta</a:t>
            </a:r>
            <a:r>
              <a:rPr lang="tr-TR" sz="1000" dirty="0"/>
              <a:t>) = 3 / 6 = </a:t>
            </a:r>
            <a:r>
              <a:rPr lang="tr-TR" sz="1000" b="1" dirty="0">
                <a:solidFill>
                  <a:srgbClr val="FF0000"/>
                </a:solidFill>
              </a:rPr>
              <a:t>0,5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CFF16D7-FD6D-138D-7583-0B2D6EC4716E}"/>
              </a:ext>
            </a:extLst>
          </p:cNvPr>
          <p:cNvSpPr txBox="1"/>
          <p:nvPr/>
        </p:nvSpPr>
        <p:spPr>
          <a:xfrm>
            <a:off x="496186" y="2575063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FF"/>
                </a:highlight>
              </a:rPr>
              <a:t>Yüksek</a:t>
            </a:r>
            <a:r>
              <a:rPr lang="tr-TR" sz="1000" dirty="0"/>
              <a:t>) = 2 / 6 = </a:t>
            </a:r>
            <a:r>
              <a:rPr lang="tr-TR" sz="1000" b="1" dirty="0">
                <a:solidFill>
                  <a:srgbClr val="FF0000"/>
                </a:solidFill>
              </a:rPr>
              <a:t>0,3333</a:t>
            </a:r>
            <a:endParaRPr lang="tr-T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9ECF7665-CE4E-F914-827D-484499B774AD}"/>
                  </a:ext>
                </a:extLst>
              </p:cNvPr>
              <p:cNvSpPr txBox="1"/>
              <p:nvPr/>
            </p:nvSpPr>
            <p:spPr>
              <a:xfrm>
                <a:off x="55755" y="3402760"/>
                <a:ext cx="6855886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𝐸𝑛𝑡𝑟𝑜𝑝𝑦</m:t>
                        </m:r>
                      </m:e>
                      <m:sub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0−10</m:t>
                        </m:r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𝑌𝑎𝑠</m:t>
                        </m:r>
                      </m:sub>
                    </m:sSub>
                    <m:r>
                      <a:rPr lang="tr-TR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tr-T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0.1667∗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0.1667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0.5∗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0.3333∗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0.3333</m:t>
                            </m:r>
                          </m:e>
                        </m:d>
                      </m:e>
                    </m:d>
                  </m:oMath>
                </a14:m>
                <a:r>
                  <a:rPr lang="tr-TR" sz="1200" dirty="0"/>
                  <a:t> = </a:t>
                </a:r>
                <a:r>
                  <a:rPr lang="tr-TR" sz="1200" b="1" dirty="0"/>
                  <a:t>1.4591</a:t>
                </a:r>
              </a:p>
            </p:txBody>
          </p:sp>
        </mc:Choice>
        <mc:Fallback xmlns="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9ECF7665-CE4E-F914-827D-484499B77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5" y="3402760"/>
                <a:ext cx="6855886" cy="300788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Dikdörtgen 15">
            <a:extLst>
              <a:ext uri="{FF2B5EF4-FFF2-40B4-BE49-F238E27FC236}">
                <a16:creationId xmlns:a16="http://schemas.microsoft.com/office/drawing/2014/main" id="{8B043865-BB27-3B17-ECEE-8CFF48726A19}"/>
              </a:ext>
            </a:extLst>
          </p:cNvPr>
          <p:cNvSpPr/>
          <p:nvPr/>
        </p:nvSpPr>
        <p:spPr>
          <a:xfrm>
            <a:off x="4394896" y="2028077"/>
            <a:ext cx="843737" cy="12831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607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1C0CE4CF-FFED-9FD9-E799-F206952A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BE106DB3-6EA2-2B6D-0EEA-CF247C327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89D9F612-097A-F9B2-CCB0-7FCBB703297D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36AB063C-E951-57DE-2138-C7D7AB2C387C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0A74CAC7-445B-D053-B863-F7DAB9825649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Resim 9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70ECC59-E709-7C7E-EAF2-35646F3D8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606" y="41920"/>
            <a:ext cx="2116394" cy="2529830"/>
          </a:xfrm>
          <a:prstGeom prst="rect">
            <a:avLst/>
          </a:prstGeom>
        </p:spPr>
      </p:pic>
      <p:pic>
        <p:nvPicPr>
          <p:cNvPr id="12" name="Resim 11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00E7642-04AF-E9AF-E156-681E326D2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98" y="1874783"/>
            <a:ext cx="3514456" cy="1436403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7555E36A-FAED-C993-EB05-A3A406D213C3}"/>
              </a:ext>
            </a:extLst>
          </p:cNvPr>
          <p:cNvSpPr txBox="1"/>
          <p:nvPr/>
        </p:nvSpPr>
        <p:spPr>
          <a:xfrm>
            <a:off x="496186" y="1596972"/>
            <a:ext cx="5577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FF"/>
                </a:highlight>
              </a:rPr>
              <a:t>Bina Yaşı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3D5AEDE-6836-A194-7DCA-D303FC49B945}"/>
              </a:ext>
            </a:extLst>
          </p:cNvPr>
          <p:cNvSpPr txBox="1"/>
          <p:nvPr/>
        </p:nvSpPr>
        <p:spPr>
          <a:xfrm>
            <a:off x="496186" y="1959509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FFFF00"/>
                </a:highlight>
              </a:rPr>
              <a:t>Düşük</a:t>
            </a:r>
            <a:r>
              <a:rPr lang="tr-TR" sz="1000" dirty="0"/>
              <a:t>) = 2 / 9 = </a:t>
            </a:r>
            <a:r>
              <a:rPr lang="tr-TR" sz="1000" b="1" dirty="0">
                <a:solidFill>
                  <a:srgbClr val="FF0000"/>
                </a:solidFill>
              </a:rPr>
              <a:t>0,2222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F85BACEA-ED58-AF2C-F0E4-44222A2F8068}"/>
              </a:ext>
            </a:extLst>
          </p:cNvPr>
          <p:cNvSpPr txBox="1"/>
          <p:nvPr/>
        </p:nvSpPr>
        <p:spPr>
          <a:xfrm>
            <a:off x="496186" y="2267286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00"/>
                </a:highlight>
              </a:rPr>
              <a:t>Orta</a:t>
            </a:r>
            <a:r>
              <a:rPr lang="tr-TR" sz="1000" dirty="0"/>
              <a:t>) = 2 / 9 = </a:t>
            </a:r>
            <a:r>
              <a:rPr lang="tr-TR" sz="1000" b="1" dirty="0">
                <a:solidFill>
                  <a:srgbClr val="FF0000"/>
                </a:solidFill>
              </a:rPr>
              <a:t>0,2222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57E87A5-C50A-160F-0AA6-2B46BE6BD83C}"/>
              </a:ext>
            </a:extLst>
          </p:cNvPr>
          <p:cNvSpPr txBox="1"/>
          <p:nvPr/>
        </p:nvSpPr>
        <p:spPr>
          <a:xfrm>
            <a:off x="496186" y="2575063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FF"/>
                </a:highlight>
              </a:rPr>
              <a:t>Yüksek</a:t>
            </a:r>
            <a:r>
              <a:rPr lang="tr-TR" sz="1000" dirty="0"/>
              <a:t>) = 5 / 9 = </a:t>
            </a:r>
            <a:r>
              <a:rPr lang="tr-TR" sz="1000" b="1" dirty="0">
                <a:solidFill>
                  <a:srgbClr val="FF0000"/>
                </a:solidFill>
              </a:rPr>
              <a:t>0,5555</a:t>
            </a:r>
            <a:endParaRPr lang="tr-T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63A14462-E47C-75AD-1C8A-E41FFDD47545}"/>
                  </a:ext>
                </a:extLst>
              </p:cNvPr>
              <p:cNvSpPr txBox="1"/>
              <p:nvPr/>
            </p:nvSpPr>
            <p:spPr>
              <a:xfrm>
                <a:off x="55754" y="3618963"/>
                <a:ext cx="7473297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𝐸𝑛𝑡𝑟𝑜𝑝𝑦</m:t>
                        </m:r>
                      </m:e>
                      <m:sub>
                        <m:r>
                          <a:rPr lang="tr-TR" sz="1200" b="0" i="0" smtClean="0">
                            <a:latin typeface="Cambria Math" panose="02040503050406030204" pitchFamily="18" charset="0"/>
                          </a:rPr>
                          <m:t>10−20</m:t>
                        </m:r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𝑌𝑎𝑠</m:t>
                        </m:r>
                      </m:sub>
                    </m:sSub>
                    <m:r>
                      <a:rPr lang="tr-TR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tr-T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2222</m:t>
                        </m:r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tr-TR" sz="12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.2222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2222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22222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5555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5555</m:t>
                            </m:r>
                          </m:e>
                        </m:d>
                      </m:e>
                    </m:d>
                  </m:oMath>
                </a14:m>
                <a:r>
                  <a:rPr lang="tr-TR" sz="1200" dirty="0"/>
                  <a:t> = </a:t>
                </a:r>
                <a:r>
                  <a:rPr lang="tr-TR" sz="1200" b="1" dirty="0"/>
                  <a:t>1.4355</a:t>
                </a:r>
              </a:p>
            </p:txBody>
          </p:sp>
        </mc:Choice>
        <mc:Fallback xmlns=""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63A14462-E47C-75AD-1C8A-E41FFDD47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4" y="3618963"/>
                <a:ext cx="7473297" cy="300788"/>
              </a:xfrm>
              <a:prstGeom prst="rect">
                <a:avLst/>
              </a:prstGeom>
              <a:blipFill>
                <a:blip r:embed="rId6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ikdörtgen 7">
            <a:extLst>
              <a:ext uri="{FF2B5EF4-FFF2-40B4-BE49-F238E27FC236}">
                <a16:creationId xmlns:a16="http://schemas.microsoft.com/office/drawing/2014/main" id="{ABB5F558-6FDA-1660-F006-FB80BDF29C65}"/>
              </a:ext>
            </a:extLst>
          </p:cNvPr>
          <p:cNvSpPr/>
          <p:nvPr/>
        </p:nvSpPr>
        <p:spPr>
          <a:xfrm>
            <a:off x="5235783" y="2065192"/>
            <a:ext cx="843737" cy="12831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988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BE198499-995A-74A0-792A-68DEEADD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6397FCD2-5F36-32EF-FB71-2D3CCABFA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C65C4436-C660-4D11-473C-31BC5938EEA4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1F1B45B-A058-E347-3815-F2522380E364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6AE7EDF1-91F8-17E8-7A11-EEE111C54C53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Resim 9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B44A2CF-6049-0261-E312-86AFB2E76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606" y="41920"/>
            <a:ext cx="2116394" cy="2529830"/>
          </a:xfrm>
          <a:prstGeom prst="rect">
            <a:avLst/>
          </a:prstGeom>
        </p:spPr>
      </p:pic>
      <p:pic>
        <p:nvPicPr>
          <p:cNvPr id="12" name="Resim 11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0F91A5-5065-87FD-3395-894D45E0A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98" y="1874783"/>
            <a:ext cx="3514456" cy="1436403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3829D146-1543-BFC9-F554-86FFE4509CE3}"/>
              </a:ext>
            </a:extLst>
          </p:cNvPr>
          <p:cNvSpPr txBox="1"/>
          <p:nvPr/>
        </p:nvSpPr>
        <p:spPr>
          <a:xfrm>
            <a:off x="496186" y="1596972"/>
            <a:ext cx="5577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FF"/>
                </a:highlight>
              </a:rPr>
              <a:t>Bina Yaşı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60BD987-49CC-41F4-8FC2-DEA6FF15A3A2}"/>
              </a:ext>
            </a:extLst>
          </p:cNvPr>
          <p:cNvSpPr txBox="1"/>
          <p:nvPr/>
        </p:nvSpPr>
        <p:spPr>
          <a:xfrm>
            <a:off x="496186" y="1959509"/>
            <a:ext cx="146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FFFF00"/>
                </a:highlight>
              </a:rPr>
              <a:t>Düşük</a:t>
            </a:r>
            <a:r>
              <a:rPr lang="tr-TR" sz="1000" dirty="0"/>
              <a:t>) = 3 / 5 = </a:t>
            </a:r>
            <a:r>
              <a:rPr lang="tr-TR" sz="1000" b="1" dirty="0">
                <a:solidFill>
                  <a:srgbClr val="FF0000"/>
                </a:solidFill>
              </a:rPr>
              <a:t>0,6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59C9719-F0A6-51F1-E33C-6605D14BA32B}"/>
              </a:ext>
            </a:extLst>
          </p:cNvPr>
          <p:cNvSpPr txBox="1"/>
          <p:nvPr/>
        </p:nvSpPr>
        <p:spPr>
          <a:xfrm>
            <a:off x="496186" y="2267286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00"/>
                </a:highlight>
              </a:rPr>
              <a:t>Orta</a:t>
            </a:r>
            <a:r>
              <a:rPr lang="tr-TR" sz="1000" dirty="0"/>
              <a:t>) = 1 / 5 = </a:t>
            </a:r>
            <a:r>
              <a:rPr lang="tr-TR" sz="1000" b="1" dirty="0">
                <a:solidFill>
                  <a:srgbClr val="FF0000"/>
                </a:solidFill>
              </a:rPr>
              <a:t>0,2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285BD999-6AE3-B281-B628-0319FB696E2C}"/>
              </a:ext>
            </a:extLst>
          </p:cNvPr>
          <p:cNvSpPr txBox="1"/>
          <p:nvPr/>
        </p:nvSpPr>
        <p:spPr>
          <a:xfrm>
            <a:off x="496186" y="2575063"/>
            <a:ext cx="1524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FF"/>
                </a:highlight>
              </a:rPr>
              <a:t>Yüksek</a:t>
            </a:r>
            <a:r>
              <a:rPr lang="tr-TR" sz="1000" dirty="0"/>
              <a:t>) = 1 / 5 = </a:t>
            </a:r>
            <a:r>
              <a:rPr lang="tr-TR" sz="1000" b="1" dirty="0">
                <a:solidFill>
                  <a:srgbClr val="FF0000"/>
                </a:solidFill>
              </a:rPr>
              <a:t>0,2</a:t>
            </a:r>
            <a:endParaRPr lang="tr-T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8E32D525-3C57-D230-709C-3C7947257F21}"/>
                  </a:ext>
                </a:extLst>
              </p:cNvPr>
              <p:cNvSpPr txBox="1"/>
              <p:nvPr/>
            </p:nvSpPr>
            <p:spPr>
              <a:xfrm>
                <a:off x="142268" y="3480186"/>
                <a:ext cx="6855886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𝐸𝑛𝑡𝑟𝑜𝑝𝑦</m:t>
                        </m:r>
                      </m:e>
                      <m:sub>
                        <m:r>
                          <a:rPr lang="tr-TR" sz="1200" b="0" i="0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𝑌𝑎𝑠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Ü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𝑧𝑒𝑟𝑖</m:t>
                        </m:r>
                      </m:sub>
                    </m:sSub>
                    <m:r>
                      <a:rPr lang="tr-TR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tr-T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0.6</m:t>
                        </m:r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</m:oMath>
                </a14:m>
                <a:r>
                  <a:rPr lang="tr-TR" sz="1200" dirty="0"/>
                  <a:t> = </a:t>
                </a:r>
                <a:r>
                  <a:rPr lang="tr-TR" sz="1200" b="1" dirty="0"/>
                  <a:t>1.3710</a:t>
                </a:r>
              </a:p>
            </p:txBody>
          </p:sp>
        </mc:Choice>
        <mc:Fallback xmlns="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8E32D525-3C57-D230-709C-3C7947257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8" y="3480186"/>
                <a:ext cx="6855886" cy="300788"/>
              </a:xfrm>
              <a:prstGeom prst="rect">
                <a:avLst/>
              </a:prstGeom>
              <a:blipFill>
                <a:blip r:embed="rId6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ikdörtgen 7">
            <a:extLst>
              <a:ext uri="{FF2B5EF4-FFF2-40B4-BE49-F238E27FC236}">
                <a16:creationId xmlns:a16="http://schemas.microsoft.com/office/drawing/2014/main" id="{7BFA336C-0D58-7F50-AA9A-714B86BB6E05}"/>
              </a:ext>
            </a:extLst>
          </p:cNvPr>
          <p:cNvSpPr/>
          <p:nvPr/>
        </p:nvSpPr>
        <p:spPr>
          <a:xfrm>
            <a:off x="6069051" y="2050913"/>
            <a:ext cx="843737" cy="12831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24FDCD28-2544-E3F8-1BA8-37393200A97A}"/>
              </a:ext>
            </a:extLst>
          </p:cNvPr>
          <p:cNvCxnSpPr>
            <a:cxnSpLocks/>
          </p:cNvCxnSpPr>
          <p:nvPr/>
        </p:nvCxnSpPr>
        <p:spPr>
          <a:xfrm>
            <a:off x="6490919" y="2514600"/>
            <a:ext cx="1318352" cy="65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CB5EB994-9A45-22F0-79F4-B1994E358076}"/>
              </a:ext>
            </a:extLst>
          </p:cNvPr>
          <p:cNvSpPr txBox="1"/>
          <p:nvPr/>
        </p:nvSpPr>
        <p:spPr>
          <a:xfrm>
            <a:off x="7472595" y="3032392"/>
            <a:ext cx="13227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050" dirty="0">
                <a:highlight>
                  <a:srgbClr val="FF00FF"/>
                </a:highlight>
              </a:rPr>
              <a:t>3 olacak. </a:t>
            </a:r>
          </a:p>
          <a:p>
            <a:pPr algn="ctr"/>
            <a:r>
              <a:rPr lang="tr-TR" sz="1050" dirty="0">
                <a:highlight>
                  <a:srgbClr val="FF00FF"/>
                </a:highlight>
              </a:rPr>
              <a:t>Yanlış yazmışım </a:t>
            </a:r>
            <a:r>
              <a:rPr lang="tr-TR" sz="1050" dirty="0">
                <a:highlight>
                  <a:srgbClr val="FF00FF"/>
                </a:highlight>
                <a:sym typeface="Wingdings" panose="05000000000000000000" pitchFamily="2" charset="2"/>
              </a:rPr>
              <a:t></a:t>
            </a:r>
            <a:endParaRPr lang="tr-TR" sz="1050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2649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AEF334A6-D44F-705D-B3F5-38F589A0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11AD195F-E398-E15C-91B6-92D6CF0B9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2B608D83-DCFF-6548-0A71-2C0CA3614BA0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A40EF9A-54BF-DDCC-3E3D-37A26535297D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0B804864-9E90-355B-F502-4A29166FF225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Resim 9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3BAF86B-376D-1ECB-BAC5-2C0BB964F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606" y="41920"/>
            <a:ext cx="2116394" cy="2529830"/>
          </a:xfrm>
          <a:prstGeom prst="rect">
            <a:avLst/>
          </a:prstGeom>
        </p:spPr>
      </p:pic>
      <p:pic>
        <p:nvPicPr>
          <p:cNvPr id="12" name="Resim 11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A34458D-2272-12B5-A942-5F868EBE0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98" y="1874783"/>
            <a:ext cx="3514456" cy="1436403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62F70EAA-EE3C-3058-46AA-9FCDD30A7056}"/>
              </a:ext>
            </a:extLst>
          </p:cNvPr>
          <p:cNvSpPr txBox="1"/>
          <p:nvPr/>
        </p:nvSpPr>
        <p:spPr>
          <a:xfrm>
            <a:off x="496186" y="1596972"/>
            <a:ext cx="5577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FF"/>
                </a:highlight>
              </a:rPr>
              <a:t>Bina Yaşı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2E36CD4B-3961-A0E9-2A40-6CE0A7F644E3}"/>
                  </a:ext>
                </a:extLst>
              </p:cNvPr>
              <p:cNvSpPr txBox="1"/>
              <p:nvPr/>
            </p:nvSpPr>
            <p:spPr>
              <a:xfrm>
                <a:off x="496186" y="2035784"/>
                <a:ext cx="22223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</m:e>
                        <m:sub>
                          <m:r>
                            <a:rPr lang="tr-TR">
                              <a:latin typeface="Cambria Math" panose="02040503050406030204" pitchFamily="18" charset="0"/>
                            </a:rPr>
                            <m:t>0−10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𝑌𝑎𝑠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=1.4591</m:t>
                      </m:r>
                    </m:oMath>
                  </m:oMathPara>
                </a14:m>
                <a:endParaRPr lang="tr-T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2E36CD4B-3961-A0E9-2A40-6CE0A7F64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6" y="2035784"/>
                <a:ext cx="2222340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624CD606-0924-33B6-19C5-1948D3E1AD79}"/>
                  </a:ext>
                </a:extLst>
              </p:cNvPr>
              <p:cNvSpPr txBox="1"/>
              <p:nvPr/>
            </p:nvSpPr>
            <p:spPr>
              <a:xfrm>
                <a:off x="403070" y="3459070"/>
                <a:ext cx="57634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𝐵𝑖𝑛𝑎𝑌𝑎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şı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0−10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𝑌𝑎𝑠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11−20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𝑌𝑎𝑠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𝑣𝑒</m:t>
                              </m:r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Ü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𝑧𝑒𝑟𝑖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624CD606-0924-33B6-19C5-1948D3E1A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70" y="3459070"/>
                <a:ext cx="5763400" cy="27699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83CF77BC-9AAA-09D5-5FB3-C6098B7C2121}"/>
                  </a:ext>
                </a:extLst>
              </p:cNvPr>
              <p:cNvSpPr txBox="1"/>
              <p:nvPr/>
            </p:nvSpPr>
            <p:spPr>
              <a:xfrm>
                <a:off x="496186" y="2315883"/>
                <a:ext cx="22935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</m:e>
                        <m:sub>
                          <m:r>
                            <a:rPr lang="tr-TR">
                              <a:latin typeface="Cambria Math" panose="02040503050406030204" pitchFamily="18" charset="0"/>
                            </a:rPr>
                            <m:t>11−20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𝑌𝑎𝑠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=1.4355</m:t>
                      </m:r>
                    </m:oMath>
                  </m:oMathPara>
                </a14:m>
                <a:endParaRPr lang="tr-T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83CF77BC-9AAA-09D5-5FB3-C6098B7C2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6" y="2315883"/>
                <a:ext cx="2293513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85870BA9-2DE1-C1A6-ACFE-FF8888FE9058}"/>
                  </a:ext>
                </a:extLst>
              </p:cNvPr>
              <p:cNvSpPr txBox="1"/>
              <p:nvPr/>
            </p:nvSpPr>
            <p:spPr>
              <a:xfrm>
                <a:off x="484868" y="2629945"/>
                <a:ext cx="23161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</m:e>
                        <m:sub>
                          <m:r>
                            <a:rPr lang="tr-TR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𝑣𝑒</m:t>
                          </m:r>
                          <m:r>
                            <a:rPr lang="tr-TR">
                              <a:latin typeface="Cambria Math" panose="02040503050406030204" pitchFamily="18" charset="0"/>
                            </a:rPr>
                            <m:t>Ü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𝑧𝑒𝑟𝑖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=1.3710</m:t>
                      </m:r>
                    </m:oMath>
                  </m:oMathPara>
                </a14:m>
                <a:endParaRPr lang="tr-T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85870BA9-2DE1-C1A6-ACFE-FF8888FE9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68" y="2629945"/>
                <a:ext cx="2316147" cy="307777"/>
              </a:xfrm>
              <a:prstGeom prst="rect">
                <a:avLst/>
              </a:prstGeom>
              <a:blipFill>
                <a:blip r:embed="rId9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Metin kutusu 17">
                <a:extLst>
                  <a:ext uri="{FF2B5EF4-FFF2-40B4-BE49-F238E27FC236}">
                    <a16:creationId xmlns:a16="http://schemas.microsoft.com/office/drawing/2014/main" id="{99179994-68BC-AD73-FE99-4276386E8664}"/>
                  </a:ext>
                </a:extLst>
              </p:cNvPr>
              <p:cNvSpPr txBox="1"/>
              <p:nvPr/>
            </p:nvSpPr>
            <p:spPr>
              <a:xfrm>
                <a:off x="484868" y="3828841"/>
                <a:ext cx="6417377" cy="5073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𝐵𝑖𝑛𝑎𝑌𝑎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şı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tr-T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tr-TR" sz="1200" i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tr-TR" sz="1200" i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0−10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𝑌𝑎𝑠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11−20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𝑌𝑎𝑠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tr-T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tr-TR" sz="1200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tr-TR" sz="1200" i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𝑣𝑒</m:t>
                              </m:r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Ü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𝑧𝑒𝑟𝑖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18" name="Metin kutusu 17">
                <a:extLst>
                  <a:ext uri="{FF2B5EF4-FFF2-40B4-BE49-F238E27FC236}">
                    <a16:creationId xmlns:a16="http://schemas.microsoft.com/office/drawing/2014/main" id="{99179994-68BC-AD73-FE99-4276386E8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68" y="3828841"/>
                <a:ext cx="6417377" cy="5073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Metin kutusu 19">
                <a:extLst>
                  <a:ext uri="{FF2B5EF4-FFF2-40B4-BE49-F238E27FC236}">
                    <a16:creationId xmlns:a16="http://schemas.microsoft.com/office/drawing/2014/main" id="{2CBACCFC-CDB9-A9AD-7685-B0EF396497DE}"/>
                  </a:ext>
                </a:extLst>
              </p:cNvPr>
              <p:cNvSpPr txBox="1"/>
              <p:nvPr/>
            </p:nvSpPr>
            <p:spPr>
              <a:xfrm>
                <a:off x="484868" y="4377867"/>
                <a:ext cx="2304832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𝐵𝑖𝑛𝑎𝑌𝑎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şı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200" b="0" i="0" smtClean="0">
                          <a:latin typeface="Cambria Math" panose="02040503050406030204" pitchFamily="18" charset="0"/>
                        </a:rPr>
                        <m:t>1.4265</m:t>
                      </m:r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20" name="Metin kutusu 19">
                <a:extLst>
                  <a:ext uri="{FF2B5EF4-FFF2-40B4-BE49-F238E27FC236}">
                    <a16:creationId xmlns:a16="http://schemas.microsoft.com/office/drawing/2014/main" id="{2CBACCFC-CDB9-A9AD-7685-B0EF39649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68" y="4377867"/>
                <a:ext cx="2304832" cy="276999"/>
              </a:xfrm>
              <a:prstGeom prst="rect">
                <a:avLst/>
              </a:prstGeom>
              <a:blipFill>
                <a:blip r:embed="rId1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Metin kutusu 20">
                <a:extLst>
                  <a:ext uri="{FF2B5EF4-FFF2-40B4-BE49-F238E27FC236}">
                    <a16:creationId xmlns:a16="http://schemas.microsoft.com/office/drawing/2014/main" id="{8AE1F28A-DA79-A6C0-5A17-5FBD2EA097BB}"/>
                  </a:ext>
                </a:extLst>
              </p:cNvPr>
              <p:cNvSpPr txBox="1"/>
              <p:nvPr/>
            </p:nvSpPr>
            <p:spPr>
              <a:xfrm>
                <a:off x="3301199" y="4576815"/>
                <a:ext cx="3726407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𝐵𝑖𝑙𝑔𝑖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𝐾𝑎𝑧𝑎𝑛𝑐𝚤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tr-T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𝐵𝑖𝑛𝑎𝑌𝑎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ş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𝚤</m:t>
                        </m:r>
                      </m:e>
                    </m:d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=1.4855−1.4265</m:t>
                    </m:r>
                  </m:oMath>
                </a14:m>
                <a:r>
                  <a:rPr lang="tr-TR" sz="1200" dirty="0"/>
                  <a:t>=</a:t>
                </a:r>
                <a:r>
                  <a:rPr lang="tr-TR" sz="1200" b="1" dirty="0">
                    <a:highlight>
                      <a:srgbClr val="FF00FF"/>
                    </a:highlight>
                  </a:rPr>
                  <a:t>0.0590</a:t>
                </a:r>
              </a:p>
            </p:txBody>
          </p:sp>
        </mc:Choice>
        <mc:Fallback xmlns="">
          <p:sp>
            <p:nvSpPr>
              <p:cNvPr id="21" name="Metin kutusu 20">
                <a:extLst>
                  <a:ext uri="{FF2B5EF4-FFF2-40B4-BE49-F238E27FC236}">
                    <a16:creationId xmlns:a16="http://schemas.microsoft.com/office/drawing/2014/main" id="{8AE1F28A-DA79-A6C0-5A17-5FBD2EA09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199" y="4576815"/>
                <a:ext cx="3726407" cy="276999"/>
              </a:xfrm>
              <a:prstGeom prst="rect">
                <a:avLst/>
              </a:prstGeom>
              <a:blipFill>
                <a:blip r:embed="rId12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96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243601CF-F2D7-16B9-681E-5ACAD27B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EA0ECA33-65C5-C857-F709-264B43164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03CC74FC-911E-B8C3-DDEB-BC8E72591B99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EA9CD91-5D2A-3491-90EA-DA634231536B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4D24780E-83E6-72A8-798C-5565524B7FD7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5A6C8B04-8876-9AD3-F145-6749738EFF7A}"/>
              </a:ext>
            </a:extLst>
          </p:cNvPr>
          <p:cNvSpPr txBox="1"/>
          <p:nvPr/>
        </p:nvSpPr>
        <p:spPr>
          <a:xfrm>
            <a:off x="496186" y="1596972"/>
            <a:ext cx="5203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00"/>
                </a:highlight>
              </a:rPr>
              <a:t>BAKIM</a:t>
            </a:r>
            <a:r>
              <a:rPr lang="tr-TR" b="1" dirty="0"/>
              <a:t>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D78D69A4-6264-74BA-D095-BD6413B1DF0C}"/>
                  </a:ext>
                </a:extLst>
              </p:cNvPr>
              <p:cNvSpPr txBox="1"/>
              <p:nvPr/>
            </p:nvSpPr>
            <p:spPr>
              <a:xfrm>
                <a:off x="806490" y="2033920"/>
                <a:ext cx="45830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𝐵𝑎𝑘</m:t>
                          </m:r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ı</m:t>
                          </m:r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tr-TR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𝑉𝐴𝑅</m:t>
                              </m:r>
                            </m:sub>
                          </m:sSub>
                          <m:r>
                            <a:rPr lang="tr-T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𝑌𝑂𝐾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D78D69A4-6264-74BA-D095-BD6413B1D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90" y="2033920"/>
                <a:ext cx="4583060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Resim 8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622EDD7-532F-17FB-DF29-2D016047B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233" y="0"/>
            <a:ext cx="3189767" cy="3718736"/>
          </a:xfrm>
          <a:prstGeom prst="rect">
            <a:avLst/>
          </a:prstGeom>
        </p:spPr>
      </p:pic>
      <p:pic>
        <p:nvPicPr>
          <p:cNvPr id="18" name="Resim 17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F84420F-086D-CB7A-E8BE-39583B8453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575" y="2801804"/>
            <a:ext cx="2867425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81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ABBF0C8F-2175-FF64-3003-C7E7C017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3D34FE81-8DD2-D70B-AB52-BF0736C21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4C3A6C9B-5FC3-D02D-E676-F000BBCC9140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8475D46-7B51-83E1-0694-1FBE47955325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B1B22653-20A5-2554-441F-2DCCE65107D7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B4B512-35BD-B656-1865-F43AF11163E5}"/>
              </a:ext>
            </a:extLst>
          </p:cNvPr>
          <p:cNvSpPr txBox="1"/>
          <p:nvPr/>
        </p:nvSpPr>
        <p:spPr>
          <a:xfrm>
            <a:off x="496186" y="1596972"/>
            <a:ext cx="5203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00"/>
                </a:highlight>
              </a:rPr>
              <a:t>BAKIM</a:t>
            </a:r>
            <a:r>
              <a:rPr lang="tr-TR" b="1" dirty="0"/>
              <a:t>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0E975AF-8DE4-2DE0-7C4B-0A6D221D1DE4}"/>
              </a:ext>
            </a:extLst>
          </p:cNvPr>
          <p:cNvSpPr txBox="1"/>
          <p:nvPr/>
        </p:nvSpPr>
        <p:spPr>
          <a:xfrm>
            <a:off x="496186" y="1959509"/>
            <a:ext cx="1539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FFFF00"/>
                </a:highlight>
              </a:rPr>
              <a:t>Düşük</a:t>
            </a:r>
            <a:r>
              <a:rPr lang="tr-TR" sz="1000" dirty="0"/>
              <a:t>) = 2 / 9 = </a:t>
            </a:r>
            <a:r>
              <a:rPr lang="tr-TR" sz="1000" b="1" dirty="0">
                <a:solidFill>
                  <a:srgbClr val="FF0000"/>
                </a:solidFill>
              </a:rPr>
              <a:t>0,22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2AA51D4-C71E-CB8A-D2E9-13269EE6B49F}"/>
              </a:ext>
            </a:extLst>
          </p:cNvPr>
          <p:cNvSpPr txBox="1"/>
          <p:nvPr/>
        </p:nvSpPr>
        <p:spPr>
          <a:xfrm>
            <a:off x="496186" y="2267286"/>
            <a:ext cx="1425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00"/>
                </a:highlight>
              </a:rPr>
              <a:t>Orta</a:t>
            </a:r>
            <a:r>
              <a:rPr lang="tr-TR" sz="1000" dirty="0"/>
              <a:t>) = 3 / 9 = </a:t>
            </a:r>
            <a:r>
              <a:rPr lang="tr-TR" sz="1000" b="1" dirty="0">
                <a:solidFill>
                  <a:srgbClr val="FF0000"/>
                </a:solidFill>
              </a:rPr>
              <a:t>0,33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A8827D8-7282-B0E4-CED1-D454F87834BF}"/>
              </a:ext>
            </a:extLst>
          </p:cNvPr>
          <p:cNvSpPr txBox="1"/>
          <p:nvPr/>
        </p:nvSpPr>
        <p:spPr>
          <a:xfrm>
            <a:off x="496186" y="2575063"/>
            <a:ext cx="1595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FF"/>
                </a:highlight>
              </a:rPr>
              <a:t>Yüksek</a:t>
            </a:r>
            <a:r>
              <a:rPr lang="tr-TR" sz="1000" dirty="0"/>
              <a:t>) = 4 / 9 = </a:t>
            </a:r>
            <a:r>
              <a:rPr lang="tr-TR" sz="1000" b="1" dirty="0">
                <a:solidFill>
                  <a:srgbClr val="FF0000"/>
                </a:solidFill>
              </a:rPr>
              <a:t>0,44</a:t>
            </a:r>
            <a:endParaRPr lang="tr-T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2BE6A8E9-9333-E285-BF67-A5932A98BA2D}"/>
                  </a:ext>
                </a:extLst>
              </p:cNvPr>
              <p:cNvSpPr txBox="1"/>
              <p:nvPr/>
            </p:nvSpPr>
            <p:spPr>
              <a:xfrm>
                <a:off x="55755" y="3402760"/>
                <a:ext cx="6855886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𝐸𝑛𝑡𝑟𝑜𝑝𝑦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tr-TR" sz="1200" b="0" i="0" smtClean="0">
                            <a:latin typeface="Cambria Math" panose="02040503050406030204" pitchFamily="18" charset="0"/>
                          </a:rPr>
                          <m:t>VAR</m:t>
                        </m:r>
                      </m:sub>
                    </m:sSub>
                    <m:r>
                      <a:rPr lang="tr-TR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tr-T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33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33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44</m:t>
                            </m:r>
                          </m:e>
                        </m:d>
                      </m:e>
                    </m:d>
                  </m:oMath>
                </a14:m>
                <a:r>
                  <a:rPr lang="tr-TR" sz="1200" dirty="0"/>
                  <a:t> = </a:t>
                </a:r>
                <a:r>
                  <a:rPr lang="tr-TR" sz="1200" b="1" dirty="0"/>
                  <a:t>1.5305</a:t>
                </a:r>
              </a:p>
            </p:txBody>
          </p:sp>
        </mc:Choice>
        <mc:Fallback xmlns="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2BE6A8E9-9333-E285-BF67-A5932A98B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5" y="3402760"/>
                <a:ext cx="6855886" cy="300788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Resim 10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8540648-FE71-EF6B-F783-34B5802A7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834" y="0"/>
            <a:ext cx="2790166" cy="3170902"/>
          </a:xfrm>
          <a:prstGeom prst="rect">
            <a:avLst/>
          </a:prstGeom>
        </p:spPr>
      </p:pic>
      <p:pic>
        <p:nvPicPr>
          <p:cNvPr id="19" name="Resim 18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49C5AB2-F463-22ED-90DB-159E514C9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033" y="1919541"/>
            <a:ext cx="2423641" cy="1304418"/>
          </a:xfrm>
          <a:prstGeom prst="rect">
            <a:avLst/>
          </a:prstGeom>
        </p:spPr>
      </p:pic>
      <p:sp>
        <p:nvSpPr>
          <p:cNvPr id="20" name="Dikdörtgen 19">
            <a:extLst>
              <a:ext uri="{FF2B5EF4-FFF2-40B4-BE49-F238E27FC236}">
                <a16:creationId xmlns:a16="http://schemas.microsoft.com/office/drawing/2014/main" id="{F8762103-12F7-B983-3143-081E3CBCF5F2}"/>
              </a:ext>
            </a:extLst>
          </p:cNvPr>
          <p:cNvSpPr/>
          <p:nvPr/>
        </p:nvSpPr>
        <p:spPr>
          <a:xfrm>
            <a:off x="4193653" y="2025425"/>
            <a:ext cx="914400" cy="12997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594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1BAC004C-D1C8-104E-4089-4CF24AD7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E878D9E6-4A0C-5ABF-82B8-8FCEE753F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645958FE-CF87-A133-3300-C16862B560B6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86F3725-5A57-09AE-9E20-A2B368AB2B12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A540965F-74FF-0133-B4C1-8BBF97535DD1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Metin kutusu 3">
            <a:extLst>
              <a:ext uri="{FF2B5EF4-FFF2-40B4-BE49-F238E27FC236}">
                <a16:creationId xmlns:a16="http://schemas.microsoft.com/office/drawing/2014/main" id="{09928C54-DEAC-2714-925D-823834548730}"/>
              </a:ext>
            </a:extLst>
          </p:cNvPr>
          <p:cNvSpPr txBox="1"/>
          <p:nvPr/>
        </p:nvSpPr>
        <p:spPr>
          <a:xfrm>
            <a:off x="496186" y="1596972"/>
            <a:ext cx="5203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00"/>
                </a:highlight>
              </a:rPr>
              <a:t>BAKIM</a:t>
            </a:r>
            <a:r>
              <a:rPr lang="tr-TR" b="1" dirty="0"/>
              <a:t>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7FFC9F3-6F1F-DFD8-61E2-14AD5B0323BD}"/>
              </a:ext>
            </a:extLst>
          </p:cNvPr>
          <p:cNvSpPr txBox="1"/>
          <p:nvPr/>
        </p:nvSpPr>
        <p:spPr>
          <a:xfrm>
            <a:off x="496186" y="1959509"/>
            <a:ext cx="1609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FFFF00"/>
                </a:highlight>
              </a:rPr>
              <a:t>Düşük</a:t>
            </a:r>
            <a:r>
              <a:rPr lang="tr-TR" sz="1000" dirty="0"/>
              <a:t>) = 2 / 11 = </a:t>
            </a:r>
            <a:r>
              <a:rPr lang="tr-TR" sz="1000" b="1" dirty="0">
                <a:solidFill>
                  <a:srgbClr val="FF0000"/>
                </a:solidFill>
              </a:rPr>
              <a:t>0,18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D156FDC-BA2A-7970-7312-9332C16222E5}"/>
              </a:ext>
            </a:extLst>
          </p:cNvPr>
          <p:cNvSpPr txBox="1"/>
          <p:nvPr/>
        </p:nvSpPr>
        <p:spPr>
          <a:xfrm>
            <a:off x="496186" y="2267286"/>
            <a:ext cx="149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00"/>
                </a:highlight>
              </a:rPr>
              <a:t>Orta</a:t>
            </a:r>
            <a:r>
              <a:rPr lang="tr-TR" sz="1000" dirty="0"/>
              <a:t>) = 3 / 11 = </a:t>
            </a:r>
            <a:r>
              <a:rPr lang="tr-TR" sz="1000" b="1" dirty="0">
                <a:solidFill>
                  <a:srgbClr val="FF0000"/>
                </a:solidFill>
              </a:rPr>
              <a:t>0,27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4B8432B-FC14-FC8B-2B00-CBAD557AFEB4}"/>
              </a:ext>
            </a:extLst>
          </p:cNvPr>
          <p:cNvSpPr txBox="1"/>
          <p:nvPr/>
        </p:nvSpPr>
        <p:spPr>
          <a:xfrm>
            <a:off x="496186" y="2575063"/>
            <a:ext cx="1665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P</a:t>
            </a:r>
            <a:r>
              <a:rPr lang="tr-TR" sz="1000" dirty="0"/>
              <a:t>(</a:t>
            </a:r>
            <a:r>
              <a:rPr lang="tr-TR" sz="1000" dirty="0">
                <a:highlight>
                  <a:srgbClr val="00FFFF"/>
                </a:highlight>
              </a:rPr>
              <a:t>Yüksek</a:t>
            </a:r>
            <a:r>
              <a:rPr lang="tr-TR" sz="1000" dirty="0"/>
              <a:t>) = 6 / 11 = </a:t>
            </a:r>
            <a:r>
              <a:rPr lang="tr-TR" sz="1000" b="1" dirty="0">
                <a:solidFill>
                  <a:srgbClr val="FF0000"/>
                </a:solidFill>
              </a:rPr>
              <a:t>0,55</a:t>
            </a:r>
            <a:endParaRPr lang="tr-T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92DAC010-178F-5304-EF29-E964798454D9}"/>
                  </a:ext>
                </a:extLst>
              </p:cNvPr>
              <p:cNvSpPr txBox="1"/>
              <p:nvPr/>
            </p:nvSpPr>
            <p:spPr>
              <a:xfrm>
                <a:off x="55755" y="3402760"/>
                <a:ext cx="6855886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𝐸𝑛𝑡𝑟𝑜𝑝𝑦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tr-TR" sz="1200" b="0" i="0" smtClean="0">
                            <a:latin typeface="Cambria Math" panose="02040503050406030204" pitchFamily="18" charset="0"/>
                          </a:rPr>
                          <m:t>YOK</m:t>
                        </m:r>
                      </m:sub>
                    </m:sSub>
                    <m:r>
                      <a:rPr lang="tr-TR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tr-T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55</m:t>
                            </m:r>
                          </m:e>
                        </m:d>
                      </m:e>
                    </m:d>
                  </m:oMath>
                </a14:m>
                <a:r>
                  <a:rPr lang="tr-TR" sz="1200" dirty="0"/>
                  <a:t> = </a:t>
                </a:r>
                <a:r>
                  <a:rPr lang="tr-TR" sz="1200" b="1" dirty="0"/>
                  <a:t>1.4354</a:t>
                </a:r>
              </a:p>
            </p:txBody>
          </p:sp>
        </mc:Choice>
        <mc:Fallback xmlns="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92DAC010-178F-5304-EF29-E96479845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5" y="3402760"/>
                <a:ext cx="6855886" cy="300788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Resim 10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AA74821-C7D9-87FE-1ACE-E05FCDCFA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834" y="0"/>
            <a:ext cx="2790166" cy="3170902"/>
          </a:xfrm>
          <a:prstGeom prst="rect">
            <a:avLst/>
          </a:prstGeom>
        </p:spPr>
      </p:pic>
      <p:pic>
        <p:nvPicPr>
          <p:cNvPr id="19" name="Resim 18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0DE7CAB-D9C6-D314-066F-FF77AC8417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033" y="1919541"/>
            <a:ext cx="2423641" cy="1304418"/>
          </a:xfrm>
          <a:prstGeom prst="rect">
            <a:avLst/>
          </a:prstGeom>
        </p:spPr>
      </p:pic>
      <p:sp>
        <p:nvSpPr>
          <p:cNvPr id="20" name="Dikdörtgen 19">
            <a:extLst>
              <a:ext uri="{FF2B5EF4-FFF2-40B4-BE49-F238E27FC236}">
                <a16:creationId xmlns:a16="http://schemas.microsoft.com/office/drawing/2014/main" id="{9BA71785-C411-F9BF-C9B6-1DE86A069151}"/>
              </a:ext>
            </a:extLst>
          </p:cNvPr>
          <p:cNvSpPr/>
          <p:nvPr/>
        </p:nvSpPr>
        <p:spPr>
          <a:xfrm>
            <a:off x="5039833" y="2136607"/>
            <a:ext cx="822841" cy="1241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069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DDB21C29-7826-23C7-83C9-8C933476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89814F6B-74A6-0CD4-D7BB-017ED2219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A682FD21-73B5-FC77-CEEA-EDD9E7120BA0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4A96F69-73B7-898E-ACBD-4CDF4EE7A375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2BEFAF58-A755-C3D2-57A7-62401393B403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Metin kutusu 3">
            <a:extLst>
              <a:ext uri="{FF2B5EF4-FFF2-40B4-BE49-F238E27FC236}">
                <a16:creationId xmlns:a16="http://schemas.microsoft.com/office/drawing/2014/main" id="{1A9DB48C-22A7-C179-EAB2-C7525120CD25}"/>
              </a:ext>
            </a:extLst>
          </p:cNvPr>
          <p:cNvSpPr txBox="1"/>
          <p:nvPr/>
        </p:nvSpPr>
        <p:spPr>
          <a:xfrm>
            <a:off x="496186" y="1596972"/>
            <a:ext cx="5203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00"/>
                </a:highlight>
              </a:rPr>
              <a:t>BAKIM</a:t>
            </a:r>
            <a:r>
              <a:rPr lang="tr-TR" b="1" dirty="0">
                <a:highlight>
                  <a:srgbClr val="00FFFF"/>
                </a:highlight>
              </a:rPr>
              <a:t>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39D6838E-87B0-FEBC-D5DE-B2C0CC94FF4C}"/>
                  </a:ext>
                </a:extLst>
              </p:cNvPr>
              <p:cNvSpPr txBox="1"/>
              <p:nvPr/>
            </p:nvSpPr>
            <p:spPr>
              <a:xfrm>
                <a:off x="496186" y="2035784"/>
                <a:ext cx="19407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tr-TR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=1.5305</m:t>
                      </m:r>
                    </m:oMath>
                  </m:oMathPara>
                </a14:m>
                <a:endParaRPr lang="tr-T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39D6838E-87B0-FEBC-D5DE-B2C0CC94F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6" y="2035784"/>
                <a:ext cx="1940724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93967DFF-DC5B-8C00-5F09-016504C85141}"/>
                  </a:ext>
                </a:extLst>
              </p:cNvPr>
              <p:cNvSpPr txBox="1"/>
              <p:nvPr/>
            </p:nvSpPr>
            <p:spPr>
              <a:xfrm>
                <a:off x="496186" y="2315883"/>
                <a:ext cx="19423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tr-TR" b="0" i="0" smtClean="0">
                              <a:latin typeface="Cambria Math" panose="02040503050406030204" pitchFamily="18" charset="0"/>
                            </a:rPr>
                            <m:t>YOK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=1.4354</m:t>
                      </m:r>
                    </m:oMath>
                  </m:oMathPara>
                </a14:m>
                <a:endParaRPr lang="tr-T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93967DFF-DC5B-8C00-5F09-016504C85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6" y="2315883"/>
                <a:ext cx="1942327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Metin kutusu 19">
                <a:extLst>
                  <a:ext uri="{FF2B5EF4-FFF2-40B4-BE49-F238E27FC236}">
                    <a16:creationId xmlns:a16="http://schemas.microsoft.com/office/drawing/2014/main" id="{BC37E5DB-667E-FC46-C675-9384D0A7126E}"/>
                  </a:ext>
                </a:extLst>
              </p:cNvPr>
              <p:cNvSpPr txBox="1"/>
              <p:nvPr/>
            </p:nvSpPr>
            <p:spPr>
              <a:xfrm>
                <a:off x="484868" y="4377867"/>
                <a:ext cx="2304832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b="0" i="1" smtClean="0">
                              <a:latin typeface="Cambria Math" panose="02040503050406030204" pitchFamily="18" charset="0"/>
                            </a:rPr>
                            <m:t>𝐵𝑎𝑘𝚤𝑚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200" b="0" i="0" smtClean="0">
                          <a:latin typeface="Cambria Math" panose="02040503050406030204" pitchFamily="18" charset="0"/>
                        </a:rPr>
                        <m:t>1.4782</m:t>
                      </m:r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20" name="Metin kutusu 19">
                <a:extLst>
                  <a:ext uri="{FF2B5EF4-FFF2-40B4-BE49-F238E27FC236}">
                    <a16:creationId xmlns:a16="http://schemas.microsoft.com/office/drawing/2014/main" id="{BC37E5DB-667E-FC46-C675-9384D0A71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68" y="4377867"/>
                <a:ext cx="2304832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Metin kutusu 20">
                <a:extLst>
                  <a:ext uri="{FF2B5EF4-FFF2-40B4-BE49-F238E27FC236}">
                    <a16:creationId xmlns:a16="http://schemas.microsoft.com/office/drawing/2014/main" id="{DBBBD16C-0FD0-6266-8DFA-F43CFF21D4B3}"/>
                  </a:ext>
                </a:extLst>
              </p:cNvPr>
              <p:cNvSpPr txBox="1"/>
              <p:nvPr/>
            </p:nvSpPr>
            <p:spPr>
              <a:xfrm>
                <a:off x="3301199" y="4576815"/>
                <a:ext cx="3726407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𝐵𝑖𝑙𝑔𝑖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𝐾𝑎𝑧𝑎𝑛𝑐𝚤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tr-T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𝐵𝑎𝑘𝚤𝑚</m:t>
                        </m:r>
                      </m:e>
                    </m:d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=1.4855−1.4782</m:t>
                    </m:r>
                  </m:oMath>
                </a14:m>
                <a:r>
                  <a:rPr lang="tr-TR" sz="1200" dirty="0"/>
                  <a:t>=</a:t>
                </a:r>
                <a:r>
                  <a:rPr lang="tr-TR" sz="1200" b="1" dirty="0">
                    <a:highlight>
                      <a:srgbClr val="FF00FF"/>
                    </a:highlight>
                  </a:rPr>
                  <a:t>0.0073</a:t>
                </a:r>
              </a:p>
            </p:txBody>
          </p:sp>
        </mc:Choice>
        <mc:Fallback xmlns="">
          <p:sp>
            <p:nvSpPr>
              <p:cNvPr id="21" name="Metin kutusu 20">
                <a:extLst>
                  <a:ext uri="{FF2B5EF4-FFF2-40B4-BE49-F238E27FC236}">
                    <a16:creationId xmlns:a16="http://schemas.microsoft.com/office/drawing/2014/main" id="{DBBBD16C-0FD0-6266-8DFA-F43CFF21D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199" y="4576815"/>
                <a:ext cx="3726407" cy="276999"/>
              </a:xfrm>
              <a:prstGeom prst="rect">
                <a:avLst/>
              </a:prstGeom>
              <a:blipFill>
                <a:blip r:embed="rId7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Resim 5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5BB8A08-E21C-C94F-4091-1874D62ADD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834" y="0"/>
            <a:ext cx="2790166" cy="3170902"/>
          </a:xfrm>
          <a:prstGeom prst="rect">
            <a:avLst/>
          </a:prstGeom>
        </p:spPr>
      </p:pic>
      <p:pic>
        <p:nvPicPr>
          <p:cNvPr id="7" name="Resim 6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B60CA4B-3E52-71AD-21E9-5C92013F16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9033" y="1919541"/>
            <a:ext cx="2423641" cy="1304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Metin kutusu 7">
                <a:extLst>
                  <a:ext uri="{FF2B5EF4-FFF2-40B4-BE49-F238E27FC236}">
                    <a16:creationId xmlns:a16="http://schemas.microsoft.com/office/drawing/2014/main" id="{73B4633E-5A0F-2D48-BE99-51E655F7FAD5}"/>
                  </a:ext>
                </a:extLst>
              </p:cNvPr>
              <p:cNvSpPr txBox="1"/>
              <p:nvPr/>
            </p:nvSpPr>
            <p:spPr>
              <a:xfrm>
                <a:off x="-11060" y="3275745"/>
                <a:ext cx="45830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𝐵𝑎𝑘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ı</m:t>
                          </m:r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𝑉𝐴𝑅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𝑌𝑂𝐾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8" name="Metin kutusu 7">
                <a:extLst>
                  <a:ext uri="{FF2B5EF4-FFF2-40B4-BE49-F238E27FC236}">
                    <a16:creationId xmlns:a16="http://schemas.microsoft.com/office/drawing/2014/main" id="{73B4633E-5A0F-2D48-BE99-51E655F7F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060" y="3275745"/>
                <a:ext cx="4583060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0A32EE35-A4AE-A8C9-D3A4-664D7BD5D77C}"/>
                  </a:ext>
                </a:extLst>
              </p:cNvPr>
              <p:cNvSpPr txBox="1"/>
              <p:nvPr/>
            </p:nvSpPr>
            <p:spPr>
              <a:xfrm>
                <a:off x="496186" y="3604530"/>
                <a:ext cx="6417377" cy="5073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tr-TR" sz="1200" b="0" i="1" smtClean="0">
                              <a:latin typeface="Cambria Math" panose="02040503050406030204" pitchFamily="18" charset="0"/>
                            </a:rPr>
                            <m:t>𝑎𝑘𝚤𝑚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tr-T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tr-TR" sz="1200" b="0" i="0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tr-TR" sz="1200" i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tr-TR" sz="1200" b="0" i="0" smtClean="0">
                                  <a:latin typeface="Cambria Math" panose="02040503050406030204" pitchFamily="18" charset="0"/>
                                </a:rPr>
                                <m:t>VAR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tr-TR" sz="1200" b="0" i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tr-TR" sz="1200" i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tr-TR" sz="1200" b="0" i="0" smtClean="0">
                                  <a:latin typeface="Cambria Math" panose="02040503050406030204" pitchFamily="18" charset="0"/>
                                </a:rPr>
                                <m:t>YOK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0A32EE35-A4AE-A8C9-D3A4-664D7BD5D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6" y="3604530"/>
                <a:ext cx="6417377" cy="5073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37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FF4671DC-6ECC-CBB1-D6D7-80BCE4AC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0C0CC947-81C1-2086-EDD1-614CC35DC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1DB1BF45-BD2F-4511-F8EC-1063C2BADD28}"/>
              </a:ext>
            </a:extLst>
          </p:cNvPr>
          <p:cNvSpPr txBox="1"/>
          <p:nvPr/>
        </p:nvSpPr>
        <p:spPr>
          <a:xfrm flipH="1">
            <a:off x="577550" y="274464"/>
            <a:ext cx="508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Bir </a:t>
            </a:r>
            <a:r>
              <a:rPr lang="tr-TR" b="1" dirty="0"/>
              <a:t>A</a:t>
            </a:r>
            <a:r>
              <a:rPr lang="tr-TR" dirty="0"/>
              <a:t> 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46B1908-1109-C9C0-DF82-3FD3D3646C16}"/>
              </a:ext>
            </a:extLst>
          </p:cNvPr>
          <p:cNvSpPr txBox="1"/>
          <p:nvPr/>
        </p:nvSpPr>
        <p:spPr>
          <a:xfrm>
            <a:off x="758456" y="700820"/>
            <a:ext cx="4958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Kat Sayısı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/>
              <a:t>Bina </a:t>
            </a:r>
            <a:r>
              <a:rPr lang="tr-TR" sz="1200" b="1" dirty="0">
                <a:highlight>
                  <a:srgbClr val="00FF00"/>
                </a:highlight>
              </a:rPr>
              <a:t>Bakım</a:t>
            </a:r>
            <a:r>
              <a:rPr lang="tr-TR" sz="1200" dirty="0"/>
              <a:t> 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Bina Yaşı</a:t>
            </a:r>
            <a:r>
              <a:rPr lang="tr-TR" sz="1200" dirty="0"/>
              <a:t>nın,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647AE4A7-DAFF-07C7-65B8-252AB4E1E779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Metin kutusu 3">
            <a:extLst>
              <a:ext uri="{FF2B5EF4-FFF2-40B4-BE49-F238E27FC236}">
                <a16:creationId xmlns:a16="http://schemas.microsoft.com/office/drawing/2014/main" id="{AFBC3A87-A529-5AD2-F085-892D89C44478}"/>
              </a:ext>
            </a:extLst>
          </p:cNvPr>
          <p:cNvSpPr txBox="1"/>
          <p:nvPr/>
        </p:nvSpPr>
        <p:spPr>
          <a:xfrm>
            <a:off x="496186" y="1596972"/>
            <a:ext cx="5577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highlight>
                  <a:srgbClr val="00FFFF"/>
                </a:highlight>
              </a:rPr>
              <a:t>Bina Yaşı </a:t>
            </a:r>
            <a:r>
              <a:rPr lang="tr-TR" dirty="0"/>
              <a:t>özniteliğinin,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etin kutusu 9">
                <a:extLst>
                  <a:ext uri="{FF2B5EF4-FFF2-40B4-BE49-F238E27FC236}">
                    <a16:creationId xmlns:a16="http://schemas.microsoft.com/office/drawing/2014/main" id="{F3FB27EB-57A3-775E-3BE7-257872672215}"/>
                  </a:ext>
                </a:extLst>
              </p:cNvPr>
              <p:cNvSpPr txBox="1"/>
              <p:nvPr/>
            </p:nvSpPr>
            <p:spPr>
              <a:xfrm>
                <a:off x="415431" y="2718333"/>
                <a:ext cx="3726407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𝐵𝑖𝑙𝑔𝑖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𝐾𝑎𝑧𝑎𝑛𝑐𝚤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tr-T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𝐵𝑎𝑘𝚤𝑚</m:t>
                        </m:r>
                      </m:e>
                    </m:d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tr-TR" sz="1200" b="1" dirty="0">
                    <a:highlight>
                      <a:srgbClr val="00FF00"/>
                    </a:highlight>
                  </a:rPr>
                  <a:t>0.0073</a:t>
                </a:r>
              </a:p>
            </p:txBody>
          </p:sp>
        </mc:Choice>
        <mc:Fallback xmlns="">
          <p:sp>
            <p:nvSpPr>
              <p:cNvPr id="10" name="Metin kutusu 9">
                <a:extLst>
                  <a:ext uri="{FF2B5EF4-FFF2-40B4-BE49-F238E27FC236}">
                    <a16:creationId xmlns:a16="http://schemas.microsoft.com/office/drawing/2014/main" id="{F3FB27EB-57A3-775E-3BE7-257872672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31" y="2718333"/>
                <a:ext cx="3726407" cy="276999"/>
              </a:xfrm>
              <a:prstGeom prst="rect">
                <a:avLst/>
              </a:prstGeom>
              <a:blipFill>
                <a:blip r:embed="rId4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47EED3D2-679D-D37A-C2E3-203A3488B664}"/>
                  </a:ext>
                </a:extLst>
              </p:cNvPr>
              <p:cNvSpPr txBox="1"/>
              <p:nvPr/>
            </p:nvSpPr>
            <p:spPr>
              <a:xfrm>
                <a:off x="415431" y="2376848"/>
                <a:ext cx="3950092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𝐵𝑖𝑙𝑔𝑖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𝐾𝑎𝑧𝑎𝑛𝑐𝚤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tr-T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𝐵𝑖𝑛𝑎𝑌𝑎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ş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𝚤</m:t>
                        </m:r>
                      </m:e>
                    </m:d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sz="1200" dirty="0"/>
                  <a:t>=</a:t>
                </a:r>
                <a:r>
                  <a:rPr lang="tr-TR" sz="1200" b="1" dirty="0"/>
                  <a:t> </a:t>
                </a:r>
                <a:r>
                  <a:rPr lang="tr-TR" sz="1200" b="1" dirty="0">
                    <a:highlight>
                      <a:srgbClr val="00FFFF"/>
                    </a:highlight>
                  </a:rPr>
                  <a:t>0.0590</a:t>
                </a:r>
              </a:p>
            </p:txBody>
          </p:sp>
        </mc:Choice>
        <mc:Fallback xmlns=""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47EED3D2-679D-D37A-C2E3-203A3488B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31" y="2376848"/>
                <a:ext cx="3950092" cy="276999"/>
              </a:xfrm>
              <a:prstGeom prst="rect">
                <a:avLst/>
              </a:prstGeom>
              <a:blipFill>
                <a:blip r:embed="rId5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AA7A878A-4142-1EC7-3F17-80C624F3F8FB}"/>
                  </a:ext>
                </a:extLst>
              </p:cNvPr>
              <p:cNvSpPr txBox="1"/>
              <p:nvPr/>
            </p:nvSpPr>
            <p:spPr>
              <a:xfrm>
                <a:off x="415432" y="3059818"/>
                <a:ext cx="2666982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𝐵𝑖𝑙𝑔𝑖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𝐾𝑎𝑧𝑎𝑛𝑐𝚤</m:t>
                    </m:r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tr-T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𝐾𝑎𝑡𝑆𝑎𝑦𝚤𝑠𝚤</m:t>
                        </m:r>
                      </m:e>
                    </m:d>
                    <m:r>
                      <a:rPr lang="tr-TR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tr-TR" sz="1200" b="1" dirty="0">
                    <a:highlight>
                      <a:srgbClr val="FFFF00"/>
                    </a:highlight>
                  </a:rPr>
                  <a:t> 0.0357</a:t>
                </a:r>
              </a:p>
            </p:txBody>
          </p:sp>
        </mc:Choice>
        <mc:Fallback xmlns=""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AA7A878A-4142-1EC7-3F17-80C624F3F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32" y="3059818"/>
                <a:ext cx="2666982" cy="276999"/>
              </a:xfrm>
              <a:prstGeom prst="rect">
                <a:avLst/>
              </a:prstGeom>
              <a:blipFill>
                <a:blip r:embed="rId6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438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0862BF3C-F79A-B172-7D3A-BF30A2AB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66542B81-F7F5-7B6B-DF16-169BA0BF5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3390638-E773-C773-1DB7-E6537E5BAAB5}"/>
              </a:ext>
            </a:extLst>
          </p:cNvPr>
          <p:cNvSpPr/>
          <p:nvPr/>
        </p:nvSpPr>
        <p:spPr>
          <a:xfrm>
            <a:off x="4177480" y="486968"/>
            <a:ext cx="789039" cy="72923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 Yaşı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2541FDC5-9831-CFA5-4450-46CFC02EF4D3}"/>
              </a:ext>
            </a:extLst>
          </p:cNvPr>
          <p:cNvSpPr txBox="1"/>
          <p:nvPr/>
        </p:nvSpPr>
        <p:spPr>
          <a:xfrm>
            <a:off x="1260987" y="1685776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0-10 yaş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CB60E198-68DE-48F7-D399-50A4D3CF60B8}"/>
              </a:ext>
            </a:extLst>
          </p:cNvPr>
          <p:cNvSpPr txBox="1"/>
          <p:nvPr/>
        </p:nvSpPr>
        <p:spPr>
          <a:xfrm>
            <a:off x="4130211" y="1685777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11-20 yaş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2A650FA4-BFCA-1688-9CFB-DC7CF4CAD120}"/>
              </a:ext>
            </a:extLst>
          </p:cNvPr>
          <p:cNvSpPr txBox="1"/>
          <p:nvPr/>
        </p:nvSpPr>
        <p:spPr>
          <a:xfrm>
            <a:off x="7090805" y="1685776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yaş ve üzeri</a:t>
            </a:r>
          </a:p>
        </p:txBody>
      </p:sp>
      <p:cxnSp>
        <p:nvCxnSpPr>
          <p:cNvPr id="16" name="Bağlayıcı: Dirsek 15">
            <a:extLst>
              <a:ext uri="{FF2B5EF4-FFF2-40B4-BE49-F238E27FC236}">
                <a16:creationId xmlns:a16="http://schemas.microsoft.com/office/drawing/2014/main" id="{C46189F7-D8B2-B53C-7F23-8BF32BD52361}"/>
              </a:ext>
            </a:extLst>
          </p:cNvPr>
          <p:cNvCxnSpPr>
            <a:stCxn id="6" idx="4"/>
            <a:endCxn id="9" idx="0"/>
          </p:cNvCxnSpPr>
          <p:nvPr/>
        </p:nvCxnSpPr>
        <p:spPr>
          <a:xfrm rot="5400000">
            <a:off x="2879757" y="-6468"/>
            <a:ext cx="469577" cy="29149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Bağlayıcı: Dirsek 17">
            <a:extLst>
              <a:ext uri="{FF2B5EF4-FFF2-40B4-BE49-F238E27FC236}">
                <a16:creationId xmlns:a16="http://schemas.microsoft.com/office/drawing/2014/main" id="{DE540AD2-2188-E6CD-28CA-403B570D8FE3}"/>
              </a:ext>
            </a:extLst>
          </p:cNvPr>
          <p:cNvCxnSpPr>
            <a:stCxn id="6" idx="4"/>
            <a:endCxn id="13" idx="0"/>
          </p:cNvCxnSpPr>
          <p:nvPr/>
        </p:nvCxnSpPr>
        <p:spPr>
          <a:xfrm rot="5400000">
            <a:off x="4337211" y="1450988"/>
            <a:ext cx="46957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Bağlayıcı: Dirsek 19">
            <a:extLst>
              <a:ext uri="{FF2B5EF4-FFF2-40B4-BE49-F238E27FC236}">
                <a16:creationId xmlns:a16="http://schemas.microsoft.com/office/drawing/2014/main" id="{159602AD-558E-005B-B731-3333C9D9DC4A}"/>
              </a:ext>
            </a:extLst>
          </p:cNvPr>
          <p:cNvCxnSpPr>
            <a:stCxn id="6" idx="4"/>
            <a:endCxn id="14" idx="0"/>
          </p:cNvCxnSpPr>
          <p:nvPr/>
        </p:nvCxnSpPr>
        <p:spPr>
          <a:xfrm rot="16200000" flipH="1">
            <a:off x="5910883" y="-122685"/>
            <a:ext cx="469577" cy="31473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50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96094E3A-65AF-8877-26AE-6663975E2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FE06EF4B-4112-753A-9DE3-78E958824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Google Shape;1253;p41">
            <a:extLst>
              <a:ext uri="{FF2B5EF4-FFF2-40B4-BE49-F238E27FC236}">
                <a16:creationId xmlns:a16="http://schemas.microsoft.com/office/drawing/2014/main" id="{6BC6E7A7-002C-5CBA-5E3C-CFE77811A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1300" y="1816050"/>
            <a:ext cx="41814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latin typeface="Maven Pro" panose="020B0604020202020204" charset="-94"/>
              </a:rPr>
              <a:t>II. AŞAMA</a:t>
            </a:r>
            <a:endParaRPr b="1" dirty="0">
              <a:solidFill>
                <a:srgbClr val="FF0000"/>
              </a:solidFill>
              <a:latin typeface="Maven Pro" panose="020B0604020202020204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766042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70FE0F69-6E7B-819A-212F-9A02122E7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A4428521-BBCA-9097-74FA-653D13BA7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A307BBD4-5F2C-9480-8EA7-138A3331D08B}"/>
              </a:ext>
            </a:extLst>
          </p:cNvPr>
          <p:cNvSpPr txBox="1"/>
          <p:nvPr/>
        </p:nvSpPr>
        <p:spPr>
          <a:xfrm flipH="1">
            <a:off x="577549" y="274464"/>
            <a:ext cx="6258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highlight>
                  <a:srgbClr val="FF00FF"/>
                </a:highlight>
              </a:rPr>
              <a:t>BİNA YAŞI </a:t>
            </a:r>
            <a:r>
              <a:rPr lang="tr-TR" dirty="0"/>
              <a:t>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3D9D047-B3B1-FEB1-A15D-506F589071F2}"/>
              </a:ext>
            </a:extLst>
          </p:cNvPr>
          <p:cNvSpPr txBox="1"/>
          <p:nvPr/>
        </p:nvSpPr>
        <p:spPr>
          <a:xfrm>
            <a:off x="758456" y="700820"/>
            <a:ext cx="4915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0-10 YAŞ</a:t>
            </a:r>
            <a:r>
              <a:rPr lang="tr-TR" sz="1200" dirty="0"/>
              <a:t>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00"/>
                </a:highlight>
              </a:rPr>
              <a:t>11-20 YAŞ </a:t>
            </a:r>
            <a:r>
              <a:rPr lang="tr-TR" sz="1200" dirty="0"/>
              <a:t>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20 ve ÜZERİ</a:t>
            </a:r>
            <a:r>
              <a:rPr lang="tr-TR" sz="1200" dirty="0"/>
              <a:t>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4A0C084E-CF97-6482-0EAC-06206629625A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Resim 6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E72C409-2551-9036-990E-C38E88935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56" y="1581327"/>
            <a:ext cx="4180907" cy="1648569"/>
          </a:xfrm>
          <a:prstGeom prst="rect">
            <a:avLst/>
          </a:prstGeom>
        </p:spPr>
      </p:pic>
      <p:pic>
        <p:nvPicPr>
          <p:cNvPr id="9" name="Resim 8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E0BB76F-A866-B133-1CB3-086418FDE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28" y="1594366"/>
            <a:ext cx="3477110" cy="21243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ABA5962A-861F-C2CC-4461-07DE5B86DD3E}"/>
                  </a:ext>
                </a:extLst>
              </p:cNvPr>
              <p:cNvSpPr txBox="1"/>
              <p:nvPr/>
            </p:nvSpPr>
            <p:spPr>
              <a:xfrm>
                <a:off x="629168" y="4123442"/>
                <a:ext cx="6855886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𝐸𝑛𝑡𝑟𝑜𝑝𝑦</m:t>
                        </m:r>
                      </m:e>
                      <m:sub>
                        <m:r>
                          <a:rPr lang="tr-TR" sz="1200" b="0" i="0" smtClean="0">
                            <a:latin typeface="Cambria Math" panose="02040503050406030204" pitchFamily="18" charset="0"/>
                          </a:rPr>
                          <m:t>0_10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𝑌𝑎𝑠</m:t>
                        </m:r>
                      </m:sub>
                    </m:sSub>
                    <m:r>
                      <a:rPr lang="tr-TR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tr-T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1666</m:t>
                        </m:r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1666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55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33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33</m:t>
                            </m:r>
                          </m:e>
                        </m:d>
                      </m:e>
                    </m:d>
                  </m:oMath>
                </a14:m>
                <a:r>
                  <a:rPr lang="tr-TR" sz="1200" dirty="0"/>
                  <a:t> = </a:t>
                </a:r>
                <a:r>
                  <a:rPr lang="tr-TR" sz="1200" b="1" dirty="0"/>
                  <a:t>1.4591</a:t>
                </a:r>
              </a:p>
            </p:txBody>
          </p:sp>
        </mc:Choice>
        <mc:Fallback xmlns="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ABA5962A-861F-C2CC-4461-07DE5B86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68" y="4123442"/>
                <a:ext cx="6855886" cy="300788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779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6AF9BD20-262C-B9DE-20BE-B6BFF1F29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77153598-3DC5-3EB8-5AD2-141BA2709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60592C7D-51FD-6E9C-A2A9-5F8F404BD45A}"/>
              </a:ext>
            </a:extLst>
          </p:cNvPr>
          <p:cNvSpPr txBox="1"/>
          <p:nvPr/>
        </p:nvSpPr>
        <p:spPr>
          <a:xfrm flipH="1">
            <a:off x="577549" y="274464"/>
            <a:ext cx="6258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highlight>
                  <a:srgbClr val="FF00FF"/>
                </a:highlight>
              </a:rPr>
              <a:t>BİNA YAŞI </a:t>
            </a:r>
            <a:r>
              <a:rPr lang="tr-TR" dirty="0"/>
              <a:t>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986D7C2-9FAD-880A-DCE5-3715AFAAC6D3}"/>
              </a:ext>
            </a:extLst>
          </p:cNvPr>
          <p:cNvSpPr txBox="1"/>
          <p:nvPr/>
        </p:nvSpPr>
        <p:spPr>
          <a:xfrm>
            <a:off x="758456" y="700820"/>
            <a:ext cx="4915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0-10 YAŞ</a:t>
            </a:r>
            <a:r>
              <a:rPr lang="tr-TR" sz="1200" dirty="0"/>
              <a:t>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00"/>
                </a:highlight>
              </a:rPr>
              <a:t>11-20 YAŞ </a:t>
            </a:r>
            <a:r>
              <a:rPr lang="tr-TR" sz="1200" dirty="0"/>
              <a:t>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20 ve ÜZERİ</a:t>
            </a:r>
            <a:r>
              <a:rPr lang="tr-TR" sz="1200" dirty="0"/>
              <a:t>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273F951A-FAB6-522E-3386-12DADD964838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Resim 6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CCB6A6-8E74-6898-3FBB-F9E82F236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56" y="1581327"/>
            <a:ext cx="4180907" cy="1648569"/>
          </a:xfrm>
          <a:prstGeom prst="rect">
            <a:avLst/>
          </a:prstGeom>
        </p:spPr>
      </p:pic>
      <p:pic>
        <p:nvPicPr>
          <p:cNvPr id="9" name="Resim 8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DE21FBB-89ED-3C1E-08C6-E201C25DF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28" y="1594366"/>
            <a:ext cx="3477110" cy="21243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EA57731F-94A9-EEB6-4B6D-1D36E267BC46}"/>
                  </a:ext>
                </a:extLst>
              </p:cNvPr>
              <p:cNvSpPr txBox="1"/>
              <p:nvPr/>
            </p:nvSpPr>
            <p:spPr>
              <a:xfrm>
                <a:off x="1144057" y="4163726"/>
                <a:ext cx="6855886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𝐸𝑛𝑡𝑟𝑜𝑝𝑦</m:t>
                        </m:r>
                      </m:e>
                      <m:sub>
                        <m:r>
                          <a:rPr lang="tr-TR" sz="1200" b="0" i="0" smtClean="0">
                            <a:latin typeface="Cambria Math" panose="02040503050406030204" pitchFamily="18" charset="0"/>
                          </a:rPr>
                          <m:t>0_10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𝑌𝑎𝑠</m:t>
                        </m:r>
                        <m:r>
                          <a:rPr lang="tr-TR" sz="12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𝑉𝐴𝑅</m:t>
                        </m:r>
                      </m:sub>
                    </m:sSub>
                    <m:r>
                      <a:rPr lang="tr-TR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tr-T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</m:d>
                      </m:e>
                    </m:d>
                  </m:oMath>
                </a14:m>
                <a:r>
                  <a:rPr lang="tr-TR" sz="1200" dirty="0"/>
                  <a:t> = </a:t>
                </a:r>
                <a:r>
                  <a:rPr lang="tr-TR" sz="1200" b="1" dirty="0"/>
                  <a:t>1.5</a:t>
                </a:r>
              </a:p>
            </p:txBody>
          </p:sp>
        </mc:Choice>
        <mc:Fallback xmlns=""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EA57731F-94A9-EEB6-4B6D-1D36E267B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057" y="4163726"/>
                <a:ext cx="6855886" cy="300788"/>
              </a:xfrm>
              <a:prstGeom prst="rect">
                <a:avLst/>
              </a:prstGeom>
              <a:blipFill>
                <a:blip r:embed="rId6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0C3F57F5-3695-3FE4-47F4-8531D5FFE5C6}"/>
                  </a:ext>
                </a:extLst>
              </p:cNvPr>
              <p:cNvSpPr txBox="1"/>
              <p:nvPr/>
            </p:nvSpPr>
            <p:spPr>
              <a:xfrm>
                <a:off x="1144057" y="4490449"/>
                <a:ext cx="6855886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200" i="1">
                            <a:latin typeface="Cambria Math" panose="02040503050406030204" pitchFamily="18" charset="0"/>
                          </a:rPr>
                          <m:t>𝐸𝑛𝑡𝑟𝑜𝑝𝑦</m:t>
                        </m:r>
                      </m:e>
                      <m:sub>
                        <m:r>
                          <a:rPr lang="tr-TR" sz="1200" b="0" i="0" smtClean="0">
                            <a:latin typeface="Cambria Math" panose="02040503050406030204" pitchFamily="18" charset="0"/>
                          </a:rPr>
                          <m:t>0_10</m:t>
                        </m:r>
                        <m:r>
                          <a:rPr lang="tr-TR" sz="1200" b="0" i="1" smtClean="0">
                            <a:latin typeface="Cambria Math" panose="02040503050406030204" pitchFamily="18" charset="0"/>
                          </a:rPr>
                          <m:t>𝑌𝑎𝑠</m:t>
                        </m:r>
                        <m:r>
                          <a:rPr lang="tr-TR" sz="12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𝑌𝑂𝐾</m:t>
                        </m:r>
                      </m:sub>
                    </m:sSub>
                    <m:r>
                      <a:rPr lang="tr-TR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tr-T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1200" i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tr-TR" sz="1200" i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00"/>
                                </a:highlight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  <m:r>
                          <a:rPr lang="tr-TR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tr-TR" sz="1200" b="0" i="0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tr-TR" sz="1200" i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tr-TR" sz="1200" i="1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200" i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tr-TR" sz="12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</m:e>
                    </m:d>
                  </m:oMath>
                </a14:m>
                <a:r>
                  <a:rPr lang="tr-TR" sz="1200" dirty="0"/>
                  <a:t> = </a:t>
                </a:r>
                <a:r>
                  <a:rPr lang="tr-TR" sz="1200" b="1" dirty="0"/>
                  <a:t>0.3333</a:t>
                </a:r>
              </a:p>
            </p:txBody>
          </p:sp>
        </mc:Choice>
        <mc:Fallback xmlns="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0C3F57F5-3695-3FE4-47F4-8531D5FFE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057" y="4490449"/>
                <a:ext cx="6855886" cy="300788"/>
              </a:xfrm>
              <a:prstGeom prst="rect">
                <a:avLst/>
              </a:prstGeom>
              <a:blipFill>
                <a:blip r:embed="rId7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etin kutusu 15">
                <a:extLst>
                  <a:ext uri="{FF2B5EF4-FFF2-40B4-BE49-F238E27FC236}">
                    <a16:creationId xmlns:a16="http://schemas.microsoft.com/office/drawing/2014/main" id="{EF1BF21A-0D24-C870-90B7-D944646AEA7C}"/>
                  </a:ext>
                </a:extLst>
              </p:cNvPr>
              <p:cNvSpPr txBox="1"/>
              <p:nvPr/>
            </p:nvSpPr>
            <p:spPr>
              <a:xfrm>
                <a:off x="577549" y="3825279"/>
                <a:ext cx="379402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𝐵𝑎𝑘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ı</m:t>
                          </m:r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𝑉𝐴𝑅</m:t>
                              </m:r>
                            </m:sub>
                          </m:sSub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</m:e>
                            <m:sub>
                              <m:r>
                                <a:rPr lang="tr-TR" sz="1200" i="1">
                                  <a:latin typeface="Cambria Math" panose="02040503050406030204" pitchFamily="18" charset="0"/>
                                </a:rPr>
                                <m:t>𝑌𝑂𝐾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16" name="Metin kutusu 15">
                <a:extLst>
                  <a:ext uri="{FF2B5EF4-FFF2-40B4-BE49-F238E27FC236}">
                    <a16:creationId xmlns:a16="http://schemas.microsoft.com/office/drawing/2014/main" id="{EF1BF21A-0D24-C870-90B7-D944646AE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49" y="3825279"/>
                <a:ext cx="3794021" cy="276999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Metin kutusu 16">
                <a:extLst>
                  <a:ext uri="{FF2B5EF4-FFF2-40B4-BE49-F238E27FC236}">
                    <a16:creationId xmlns:a16="http://schemas.microsoft.com/office/drawing/2014/main" id="{0184F844-0165-5BA8-9B5B-F9D2DB91A4A3}"/>
                  </a:ext>
                </a:extLst>
              </p:cNvPr>
              <p:cNvSpPr txBox="1"/>
              <p:nvPr/>
            </p:nvSpPr>
            <p:spPr>
              <a:xfrm>
                <a:off x="243252" y="4817172"/>
                <a:ext cx="379402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𝐵𝑎𝑘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ı</m:t>
                          </m:r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1.3333</m:t>
                      </m:r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17" name="Metin kutusu 16">
                <a:extLst>
                  <a:ext uri="{FF2B5EF4-FFF2-40B4-BE49-F238E27FC236}">
                    <a16:creationId xmlns:a16="http://schemas.microsoft.com/office/drawing/2014/main" id="{0184F844-0165-5BA8-9B5B-F9D2DB91A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52" y="4817172"/>
                <a:ext cx="3794021" cy="276999"/>
              </a:xfrm>
              <a:prstGeom prst="rect">
                <a:avLst/>
              </a:prstGeom>
              <a:blipFill>
                <a:blip r:embed="rId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Metin kutusu 17">
                <a:extLst>
                  <a:ext uri="{FF2B5EF4-FFF2-40B4-BE49-F238E27FC236}">
                    <a16:creationId xmlns:a16="http://schemas.microsoft.com/office/drawing/2014/main" id="{9C58C5CF-4627-ADE2-BE87-9B21A8C111FE}"/>
                  </a:ext>
                </a:extLst>
              </p:cNvPr>
              <p:cNvSpPr txBox="1"/>
              <p:nvPr/>
            </p:nvSpPr>
            <p:spPr>
              <a:xfrm>
                <a:off x="3883646" y="4791237"/>
                <a:ext cx="379402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𝐵𝑖𝑙𝑔𝑖𝐾𝑎𝑧𝑎𝑛𝑐𝚤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𝐵𝑎𝑘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ı</m:t>
                          </m:r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0.1258</m:t>
                      </m:r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18" name="Metin kutusu 17">
                <a:extLst>
                  <a:ext uri="{FF2B5EF4-FFF2-40B4-BE49-F238E27FC236}">
                    <a16:creationId xmlns:a16="http://schemas.microsoft.com/office/drawing/2014/main" id="{9C58C5CF-4627-ADE2-BE87-9B21A8C11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646" y="4791237"/>
                <a:ext cx="3794021" cy="276999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761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086CE408-C85C-40A5-A08E-9201E3F1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5F35C344-36CA-034D-3655-1C4D6E14D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88EEE3E3-071B-4DED-80B0-5A877F3C11B7}"/>
              </a:ext>
            </a:extLst>
          </p:cNvPr>
          <p:cNvSpPr txBox="1"/>
          <p:nvPr/>
        </p:nvSpPr>
        <p:spPr>
          <a:xfrm flipH="1">
            <a:off x="577549" y="274464"/>
            <a:ext cx="6258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highlight>
                  <a:srgbClr val="FF00FF"/>
                </a:highlight>
              </a:rPr>
              <a:t>BİNA YAŞI </a:t>
            </a:r>
            <a:r>
              <a:rPr lang="tr-TR" dirty="0"/>
              <a:t>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8BE5E10-5241-0DFA-2AE9-161E4737A643}"/>
              </a:ext>
            </a:extLst>
          </p:cNvPr>
          <p:cNvSpPr txBox="1"/>
          <p:nvPr/>
        </p:nvSpPr>
        <p:spPr>
          <a:xfrm>
            <a:off x="758456" y="700820"/>
            <a:ext cx="4915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0-10 YAŞ</a:t>
            </a:r>
            <a:r>
              <a:rPr lang="tr-TR" sz="1200" dirty="0"/>
              <a:t>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00"/>
                </a:highlight>
              </a:rPr>
              <a:t>11-20 YAŞ </a:t>
            </a:r>
            <a:r>
              <a:rPr lang="tr-TR" sz="1200" dirty="0"/>
              <a:t>durumunun,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b="1" dirty="0">
                <a:highlight>
                  <a:srgbClr val="00FFFF"/>
                </a:highlight>
              </a:rPr>
              <a:t>20 ve ÜZERİ</a:t>
            </a:r>
            <a:r>
              <a:rPr lang="tr-TR" sz="1200" dirty="0"/>
              <a:t>, </a:t>
            </a:r>
            <a:r>
              <a:rPr lang="tr-TR" sz="1200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sz="1200" dirty="0"/>
              <a:t>veri setindeki Entropisi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318A89C8-ACA2-7A1A-844F-A909253256AD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Resim 6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46971F8-C316-0216-F729-1DD6618FB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56" y="1581327"/>
            <a:ext cx="4180907" cy="16485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Metin kutusu 16">
                <a:extLst>
                  <a:ext uri="{FF2B5EF4-FFF2-40B4-BE49-F238E27FC236}">
                    <a16:creationId xmlns:a16="http://schemas.microsoft.com/office/drawing/2014/main" id="{0E532588-52FA-E4C2-0252-BF4B20012A8C}"/>
                  </a:ext>
                </a:extLst>
              </p:cNvPr>
              <p:cNvSpPr txBox="1"/>
              <p:nvPr/>
            </p:nvSpPr>
            <p:spPr>
              <a:xfrm>
                <a:off x="2219535" y="4002585"/>
                <a:ext cx="379402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𝐵𝑖𝑙𝑔𝑖𝐾𝑎𝑧𝑎𝑛𝑐𝚤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b="0" i="1" smtClean="0">
                              <a:latin typeface="Cambria Math" panose="02040503050406030204" pitchFamily="18" charset="0"/>
                            </a:rPr>
                            <m:t>𝐾𝑎𝑡𝑆𝑎𝑦𝚤𝑠𝚤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0.4591</m:t>
                      </m:r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17" name="Metin kutusu 16">
                <a:extLst>
                  <a:ext uri="{FF2B5EF4-FFF2-40B4-BE49-F238E27FC236}">
                    <a16:creationId xmlns:a16="http://schemas.microsoft.com/office/drawing/2014/main" id="{0E532588-52FA-E4C2-0252-BF4B20012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535" y="4002585"/>
                <a:ext cx="3794021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Resim 5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A304998-46FB-6DC6-7330-EA46FBCEA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4905" y="1612009"/>
            <a:ext cx="2859089" cy="217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93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CEA82E59-851F-0DF9-AE8F-AF6F5EF3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4CA08025-5A20-FA8A-0568-6C826DF5C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35377D8D-55B5-AC2E-DDCC-DA948BBB0AE4}"/>
              </a:ext>
            </a:extLst>
          </p:cNvPr>
          <p:cNvSpPr txBox="1"/>
          <p:nvPr/>
        </p:nvSpPr>
        <p:spPr>
          <a:xfrm flipH="1">
            <a:off x="577549" y="274464"/>
            <a:ext cx="6258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highlight>
                  <a:srgbClr val="FF00FF"/>
                </a:highlight>
              </a:rPr>
              <a:t>BİNA YAŞI </a:t>
            </a:r>
            <a:r>
              <a:rPr lang="tr-TR" dirty="0"/>
              <a:t>özniteliğinin 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Bina Risk Durumu </a:t>
            </a:r>
            <a:r>
              <a:rPr lang="tr-TR" dirty="0"/>
              <a:t>veri setindeki Entropisi? 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F5AF8BFF-A75A-8D82-5681-17BD3364EFBF}"/>
              </a:ext>
            </a:extLst>
          </p:cNvPr>
          <p:cNvCxnSpPr/>
          <p:nvPr/>
        </p:nvCxnSpPr>
        <p:spPr>
          <a:xfrm>
            <a:off x="496186" y="1424763"/>
            <a:ext cx="54580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Metin kutusu 16">
                <a:extLst>
                  <a:ext uri="{FF2B5EF4-FFF2-40B4-BE49-F238E27FC236}">
                    <a16:creationId xmlns:a16="http://schemas.microsoft.com/office/drawing/2014/main" id="{87F58E01-3CAC-3063-481D-312F7F61E25E}"/>
                  </a:ext>
                </a:extLst>
              </p:cNvPr>
              <p:cNvSpPr txBox="1"/>
              <p:nvPr/>
            </p:nvSpPr>
            <p:spPr>
              <a:xfrm>
                <a:off x="147387" y="1045533"/>
                <a:ext cx="379402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𝐵𝑖𝑙𝑔𝑖𝐾𝑎𝑧𝑎𝑛𝑐𝚤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b="0" i="1" smtClean="0">
                              <a:latin typeface="Cambria Math" panose="02040503050406030204" pitchFamily="18" charset="0"/>
                            </a:rPr>
                            <m:t>𝐾𝑎𝑡𝑆𝑎𝑦𝚤𝑠𝚤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0.4591</m:t>
                      </m:r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17" name="Metin kutusu 16">
                <a:extLst>
                  <a:ext uri="{FF2B5EF4-FFF2-40B4-BE49-F238E27FC236}">
                    <a16:creationId xmlns:a16="http://schemas.microsoft.com/office/drawing/2014/main" id="{87F58E01-3CAC-3063-481D-312F7F61E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87" y="1045533"/>
                <a:ext cx="3794021" cy="276999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etin kutusu 3">
                <a:extLst>
                  <a:ext uri="{FF2B5EF4-FFF2-40B4-BE49-F238E27FC236}">
                    <a16:creationId xmlns:a16="http://schemas.microsoft.com/office/drawing/2014/main" id="{0C2CDB2A-3BBE-F730-AF36-B2929CF5F081}"/>
                  </a:ext>
                </a:extLst>
              </p:cNvPr>
              <p:cNvSpPr txBox="1"/>
              <p:nvPr/>
            </p:nvSpPr>
            <p:spPr>
              <a:xfrm>
                <a:off x="147386" y="768534"/>
                <a:ext cx="379402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𝐵𝑖𝑙𝑔𝑖𝐾𝑎𝑧𝑎𝑛𝑐𝚤</m:t>
                      </m:r>
                      <m:d>
                        <m:dPr>
                          <m:ctrlPr>
                            <a:rPr lang="tr-T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𝐵𝑎𝑘</m:t>
                          </m:r>
                          <m:r>
                            <a:rPr lang="tr-TR" sz="1200" i="0">
                              <a:latin typeface="Cambria Math" panose="02040503050406030204" pitchFamily="18" charset="0"/>
                            </a:rPr>
                            <m:t>ı</m:t>
                          </m:r>
                          <m:r>
                            <a:rPr lang="tr-TR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tr-TR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200" b="0" i="1" smtClean="0">
                          <a:latin typeface="Cambria Math" panose="02040503050406030204" pitchFamily="18" charset="0"/>
                        </a:rPr>
                        <m:t>0.1258</m:t>
                      </m:r>
                    </m:oMath>
                  </m:oMathPara>
                </a14:m>
                <a:endParaRPr lang="tr-TR" sz="1200" dirty="0"/>
              </a:p>
            </p:txBody>
          </p:sp>
        </mc:Choice>
        <mc:Fallback xmlns="">
          <p:sp>
            <p:nvSpPr>
              <p:cNvPr id="4" name="Metin kutusu 3">
                <a:extLst>
                  <a:ext uri="{FF2B5EF4-FFF2-40B4-BE49-F238E27FC236}">
                    <a16:creationId xmlns:a16="http://schemas.microsoft.com/office/drawing/2014/main" id="{0C2CDB2A-3BBE-F730-AF36-B2929CF5F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86" y="768534"/>
                <a:ext cx="3794021" cy="276999"/>
              </a:xfrm>
              <a:prstGeom prst="rect">
                <a:avLst/>
              </a:prstGeom>
              <a:blipFill>
                <a:blip r:embed="rId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622FE1E9-6812-78E2-7C11-BF60C420F06A}"/>
              </a:ext>
            </a:extLst>
          </p:cNvPr>
          <p:cNvSpPr/>
          <p:nvPr/>
        </p:nvSpPr>
        <p:spPr>
          <a:xfrm>
            <a:off x="3963594" y="1599531"/>
            <a:ext cx="789039" cy="72923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 Yaşı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AED1C87-23F9-13D1-CFA1-B00FEC585271}"/>
              </a:ext>
            </a:extLst>
          </p:cNvPr>
          <p:cNvSpPr txBox="1"/>
          <p:nvPr/>
        </p:nvSpPr>
        <p:spPr>
          <a:xfrm>
            <a:off x="1047101" y="2798339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0-10 yaş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698313E-84A6-2E08-3430-24ABCDEC0216}"/>
              </a:ext>
            </a:extLst>
          </p:cNvPr>
          <p:cNvSpPr txBox="1"/>
          <p:nvPr/>
        </p:nvSpPr>
        <p:spPr>
          <a:xfrm>
            <a:off x="3916325" y="2798340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11-20 yaş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178421C5-C27F-C1DE-D571-85A8FFB0C52D}"/>
              </a:ext>
            </a:extLst>
          </p:cNvPr>
          <p:cNvSpPr txBox="1"/>
          <p:nvPr/>
        </p:nvSpPr>
        <p:spPr>
          <a:xfrm>
            <a:off x="6876919" y="2798339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yaş ve üzeri</a:t>
            </a:r>
          </a:p>
        </p:txBody>
      </p:sp>
      <p:cxnSp>
        <p:nvCxnSpPr>
          <p:cNvPr id="12" name="Bağlayıcı: Dirsek 11">
            <a:extLst>
              <a:ext uri="{FF2B5EF4-FFF2-40B4-BE49-F238E27FC236}">
                <a16:creationId xmlns:a16="http://schemas.microsoft.com/office/drawing/2014/main" id="{8F892FEA-86B1-13BF-494B-678146C5CD4C}"/>
              </a:ext>
            </a:extLst>
          </p:cNvPr>
          <p:cNvCxnSpPr>
            <a:stCxn id="8" idx="4"/>
            <a:endCxn id="9" idx="0"/>
          </p:cNvCxnSpPr>
          <p:nvPr/>
        </p:nvCxnSpPr>
        <p:spPr>
          <a:xfrm rot="5400000">
            <a:off x="2665871" y="1106095"/>
            <a:ext cx="469577" cy="29149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Bağlayıcı: Dirsek 12">
            <a:extLst>
              <a:ext uri="{FF2B5EF4-FFF2-40B4-BE49-F238E27FC236}">
                <a16:creationId xmlns:a16="http://schemas.microsoft.com/office/drawing/2014/main" id="{5AB790D2-47CD-6FCB-3934-7E0BFACC1845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rot="5400000">
            <a:off x="4123325" y="2563551"/>
            <a:ext cx="46957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Bağlayıcı: Dirsek 13">
            <a:extLst>
              <a:ext uri="{FF2B5EF4-FFF2-40B4-BE49-F238E27FC236}">
                <a16:creationId xmlns:a16="http://schemas.microsoft.com/office/drawing/2014/main" id="{8E719B22-2DA3-4552-CE4E-969F78008076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16200000" flipH="1">
            <a:off x="5696997" y="989878"/>
            <a:ext cx="469577" cy="31473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2414CCB-D8D0-C07C-FF22-CA6DA18865F4}"/>
              </a:ext>
            </a:extLst>
          </p:cNvPr>
          <p:cNvSpPr/>
          <p:nvPr/>
        </p:nvSpPr>
        <p:spPr>
          <a:xfrm>
            <a:off x="1016716" y="3165988"/>
            <a:ext cx="852975" cy="8194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 Sayısı</a:t>
            </a:r>
          </a:p>
        </p:txBody>
      </p:sp>
    </p:spTree>
    <p:extLst>
      <p:ext uri="{BB962C8B-B14F-4D97-AF65-F5344CB8AC3E}">
        <p14:creationId xmlns:p14="http://schemas.microsoft.com/office/powerpoint/2010/main" val="1901133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>
          <a:extLst>
            <a:ext uri="{FF2B5EF4-FFF2-40B4-BE49-F238E27FC236}">
              <a16:creationId xmlns:a16="http://schemas.microsoft.com/office/drawing/2014/main" id="{2264E159-A468-9B37-52F6-5E2134B4E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Resim 684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50DF75A5-A26D-20F5-A123-17AB10962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16" name="Dikdörtgen 15">
            <a:extLst>
              <a:ext uri="{FF2B5EF4-FFF2-40B4-BE49-F238E27FC236}">
                <a16:creationId xmlns:a16="http://schemas.microsoft.com/office/drawing/2014/main" id="{BC01EF09-E7FB-97D9-0CF0-C7E782C2B778}"/>
              </a:ext>
            </a:extLst>
          </p:cNvPr>
          <p:cNvSpPr/>
          <p:nvPr/>
        </p:nvSpPr>
        <p:spPr>
          <a:xfrm>
            <a:off x="3956254" y="336204"/>
            <a:ext cx="1231491" cy="31709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Bina Yaşı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2B03B01-213F-CAA5-AAC3-90E41A6DE7C3}"/>
              </a:ext>
            </a:extLst>
          </p:cNvPr>
          <p:cNvSpPr/>
          <p:nvPr/>
        </p:nvSpPr>
        <p:spPr>
          <a:xfrm>
            <a:off x="1015523" y="1511244"/>
            <a:ext cx="1231491" cy="31709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Kat Sayısı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0C97AC63-4EBE-5E56-FFA9-8719F59651BB}"/>
              </a:ext>
            </a:extLst>
          </p:cNvPr>
          <p:cNvSpPr/>
          <p:nvPr/>
        </p:nvSpPr>
        <p:spPr>
          <a:xfrm>
            <a:off x="3956254" y="1499153"/>
            <a:ext cx="1231491" cy="31709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Kat Sayısı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2CCCD052-6B24-01B3-51C6-2D2229051583}"/>
              </a:ext>
            </a:extLst>
          </p:cNvPr>
          <p:cNvSpPr/>
          <p:nvPr/>
        </p:nvSpPr>
        <p:spPr>
          <a:xfrm>
            <a:off x="6959299" y="1511245"/>
            <a:ext cx="1231491" cy="31709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Bakım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DA5A2479-C42F-86D2-F505-18E0534EF816}"/>
              </a:ext>
            </a:extLst>
          </p:cNvPr>
          <p:cNvSpPr txBox="1"/>
          <p:nvPr/>
        </p:nvSpPr>
        <p:spPr>
          <a:xfrm>
            <a:off x="1276580" y="1020839"/>
            <a:ext cx="6944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0-10 Yaş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A336A92-FB04-DE56-E921-D06FF4473A62}"/>
              </a:ext>
            </a:extLst>
          </p:cNvPr>
          <p:cNvSpPr txBox="1"/>
          <p:nvPr/>
        </p:nvSpPr>
        <p:spPr>
          <a:xfrm>
            <a:off x="4186316" y="1020840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11-20 Yaş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7369D3F2-01B0-F479-B19D-29D1B13EF181}"/>
              </a:ext>
            </a:extLst>
          </p:cNvPr>
          <p:cNvSpPr txBox="1"/>
          <p:nvPr/>
        </p:nvSpPr>
        <p:spPr>
          <a:xfrm>
            <a:off x="7150087" y="1031413"/>
            <a:ext cx="8499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20 ve Üzeri</a:t>
            </a:r>
          </a:p>
        </p:txBody>
      </p:sp>
      <p:cxnSp>
        <p:nvCxnSpPr>
          <p:cNvPr id="25" name="Bağlayıcı: Dirsek 24">
            <a:extLst>
              <a:ext uri="{FF2B5EF4-FFF2-40B4-BE49-F238E27FC236}">
                <a16:creationId xmlns:a16="http://schemas.microsoft.com/office/drawing/2014/main" id="{390FC03B-711A-567D-90EB-2E26628DDAC4}"/>
              </a:ext>
            </a:extLst>
          </p:cNvPr>
          <p:cNvCxnSpPr>
            <a:stCxn id="16" idx="2"/>
            <a:endCxn id="21" idx="0"/>
          </p:cNvCxnSpPr>
          <p:nvPr/>
        </p:nvCxnSpPr>
        <p:spPr>
          <a:xfrm rot="5400000">
            <a:off x="2914124" y="-637037"/>
            <a:ext cx="367544" cy="29482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Bağlayıcı: Dirsek 26">
            <a:extLst>
              <a:ext uri="{FF2B5EF4-FFF2-40B4-BE49-F238E27FC236}">
                <a16:creationId xmlns:a16="http://schemas.microsoft.com/office/drawing/2014/main" id="{A0A9A3FC-4BAE-28F6-407E-1CED66589691}"/>
              </a:ext>
            </a:extLst>
          </p:cNvPr>
          <p:cNvCxnSpPr>
            <a:stCxn id="16" idx="2"/>
            <a:endCxn id="23" idx="0"/>
          </p:cNvCxnSpPr>
          <p:nvPr/>
        </p:nvCxnSpPr>
        <p:spPr>
          <a:xfrm rot="16200000" flipH="1">
            <a:off x="5884463" y="-659168"/>
            <a:ext cx="378118" cy="30030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Bağlayıcı: Dirsek 28">
            <a:extLst>
              <a:ext uri="{FF2B5EF4-FFF2-40B4-BE49-F238E27FC236}">
                <a16:creationId xmlns:a16="http://schemas.microsoft.com/office/drawing/2014/main" id="{1AB87603-5DCD-1A67-0122-14D181BA47E6}"/>
              </a:ext>
            </a:extLst>
          </p:cNvPr>
          <p:cNvCxnSpPr>
            <a:stCxn id="16" idx="2"/>
            <a:endCxn id="22" idx="0"/>
          </p:cNvCxnSpPr>
          <p:nvPr/>
        </p:nvCxnSpPr>
        <p:spPr>
          <a:xfrm rot="5400000">
            <a:off x="4388228" y="837067"/>
            <a:ext cx="367545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2" name="Düz Ok Bağlayıcısı 671">
            <a:extLst>
              <a:ext uri="{FF2B5EF4-FFF2-40B4-BE49-F238E27FC236}">
                <a16:creationId xmlns:a16="http://schemas.microsoft.com/office/drawing/2014/main" id="{AC50DD24-54D3-A9A7-C3B1-8AAF545EC915}"/>
              </a:ext>
            </a:extLst>
          </p:cNvPr>
          <p:cNvCxnSpPr>
            <a:stCxn id="21" idx="2"/>
            <a:endCxn id="18" idx="0"/>
          </p:cNvCxnSpPr>
          <p:nvPr/>
        </p:nvCxnSpPr>
        <p:spPr>
          <a:xfrm>
            <a:off x="1623791" y="1267060"/>
            <a:ext cx="7478" cy="244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5" name="Düz Ok Bağlayıcısı 674">
            <a:extLst>
              <a:ext uri="{FF2B5EF4-FFF2-40B4-BE49-F238E27FC236}">
                <a16:creationId xmlns:a16="http://schemas.microsoft.com/office/drawing/2014/main" id="{E09A207B-351D-AA8A-836E-A96A4E3890C9}"/>
              </a:ext>
            </a:extLst>
          </p:cNvPr>
          <p:cNvCxnSpPr>
            <a:stCxn id="22" idx="2"/>
            <a:endCxn id="19" idx="0"/>
          </p:cNvCxnSpPr>
          <p:nvPr/>
        </p:nvCxnSpPr>
        <p:spPr>
          <a:xfrm>
            <a:off x="4571999" y="1267061"/>
            <a:ext cx="1" cy="232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8" name="Düz Ok Bağlayıcısı 677">
            <a:extLst>
              <a:ext uri="{FF2B5EF4-FFF2-40B4-BE49-F238E27FC236}">
                <a16:creationId xmlns:a16="http://schemas.microsoft.com/office/drawing/2014/main" id="{9E97DC19-E19B-530D-4F66-48532363C273}"/>
              </a:ext>
            </a:extLst>
          </p:cNvPr>
          <p:cNvCxnSpPr>
            <a:stCxn id="23" idx="2"/>
            <a:endCxn id="20" idx="0"/>
          </p:cNvCxnSpPr>
          <p:nvPr/>
        </p:nvCxnSpPr>
        <p:spPr>
          <a:xfrm>
            <a:off x="7575044" y="1277634"/>
            <a:ext cx="1" cy="233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9" name="Metin kutusu 678">
            <a:extLst>
              <a:ext uri="{FF2B5EF4-FFF2-40B4-BE49-F238E27FC236}">
                <a16:creationId xmlns:a16="http://schemas.microsoft.com/office/drawing/2014/main" id="{7908F819-154A-D223-E947-15FA8C749FA8}"/>
              </a:ext>
            </a:extLst>
          </p:cNvPr>
          <p:cNvSpPr txBox="1"/>
          <p:nvPr/>
        </p:nvSpPr>
        <p:spPr>
          <a:xfrm>
            <a:off x="641535" y="2167927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2 Kat</a:t>
            </a:r>
          </a:p>
        </p:txBody>
      </p:sp>
      <p:sp>
        <p:nvSpPr>
          <p:cNvPr id="680" name="Metin kutusu 679">
            <a:extLst>
              <a:ext uri="{FF2B5EF4-FFF2-40B4-BE49-F238E27FC236}">
                <a16:creationId xmlns:a16="http://schemas.microsoft.com/office/drawing/2014/main" id="{96D442DC-428C-C494-EAAB-105C553BD95D}"/>
              </a:ext>
            </a:extLst>
          </p:cNvPr>
          <p:cNvSpPr txBox="1"/>
          <p:nvPr/>
        </p:nvSpPr>
        <p:spPr>
          <a:xfrm>
            <a:off x="2162471" y="2164283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3 Kat</a:t>
            </a:r>
          </a:p>
        </p:txBody>
      </p:sp>
      <p:sp>
        <p:nvSpPr>
          <p:cNvPr id="681" name="Metin kutusu 680">
            <a:extLst>
              <a:ext uri="{FF2B5EF4-FFF2-40B4-BE49-F238E27FC236}">
                <a16:creationId xmlns:a16="http://schemas.microsoft.com/office/drawing/2014/main" id="{9A1CA04A-2F9B-D6CF-A29B-CEC2157C55ED}"/>
              </a:ext>
            </a:extLst>
          </p:cNvPr>
          <p:cNvSpPr txBox="1"/>
          <p:nvPr/>
        </p:nvSpPr>
        <p:spPr>
          <a:xfrm>
            <a:off x="4323372" y="2164283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3 Kat</a:t>
            </a:r>
          </a:p>
        </p:txBody>
      </p:sp>
      <p:sp>
        <p:nvSpPr>
          <p:cNvPr id="682" name="Metin kutusu 681">
            <a:extLst>
              <a:ext uri="{FF2B5EF4-FFF2-40B4-BE49-F238E27FC236}">
                <a16:creationId xmlns:a16="http://schemas.microsoft.com/office/drawing/2014/main" id="{76B0D1A4-824E-688C-9E72-AD6298F74301}"/>
              </a:ext>
            </a:extLst>
          </p:cNvPr>
          <p:cNvSpPr txBox="1"/>
          <p:nvPr/>
        </p:nvSpPr>
        <p:spPr>
          <a:xfrm>
            <a:off x="3427144" y="2169814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2 Kat</a:t>
            </a:r>
          </a:p>
        </p:txBody>
      </p:sp>
      <p:sp>
        <p:nvSpPr>
          <p:cNvPr id="683" name="Metin kutusu 682">
            <a:extLst>
              <a:ext uri="{FF2B5EF4-FFF2-40B4-BE49-F238E27FC236}">
                <a16:creationId xmlns:a16="http://schemas.microsoft.com/office/drawing/2014/main" id="{4A0FFA4E-6F47-A373-6744-E5537966B0DB}"/>
              </a:ext>
            </a:extLst>
          </p:cNvPr>
          <p:cNvSpPr txBox="1"/>
          <p:nvPr/>
        </p:nvSpPr>
        <p:spPr>
          <a:xfrm>
            <a:off x="5219600" y="2169813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4 ve üzeri</a:t>
            </a:r>
          </a:p>
        </p:txBody>
      </p:sp>
      <p:sp>
        <p:nvSpPr>
          <p:cNvPr id="688" name="Dikdörtgen 687">
            <a:extLst>
              <a:ext uri="{FF2B5EF4-FFF2-40B4-BE49-F238E27FC236}">
                <a16:creationId xmlns:a16="http://schemas.microsoft.com/office/drawing/2014/main" id="{B6039BC9-8138-F0AC-18FC-73D9D039D8A4}"/>
              </a:ext>
            </a:extLst>
          </p:cNvPr>
          <p:cNvSpPr/>
          <p:nvPr/>
        </p:nvSpPr>
        <p:spPr>
          <a:xfrm>
            <a:off x="487593" y="2752377"/>
            <a:ext cx="809592" cy="31709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Bakım</a:t>
            </a:r>
          </a:p>
        </p:txBody>
      </p:sp>
      <p:sp>
        <p:nvSpPr>
          <p:cNvPr id="689" name="Dikdörtgen 688">
            <a:extLst>
              <a:ext uri="{FF2B5EF4-FFF2-40B4-BE49-F238E27FC236}">
                <a16:creationId xmlns:a16="http://schemas.microsoft.com/office/drawing/2014/main" id="{BB50ABA7-2432-5D48-A821-183F1CFCEFEF}"/>
              </a:ext>
            </a:extLst>
          </p:cNvPr>
          <p:cNvSpPr/>
          <p:nvPr/>
        </p:nvSpPr>
        <p:spPr>
          <a:xfrm>
            <a:off x="80569" y="3858791"/>
            <a:ext cx="809592" cy="3170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Düşük</a:t>
            </a:r>
          </a:p>
        </p:txBody>
      </p:sp>
      <p:sp>
        <p:nvSpPr>
          <p:cNvPr id="690" name="Dikdörtgen 689">
            <a:extLst>
              <a:ext uri="{FF2B5EF4-FFF2-40B4-BE49-F238E27FC236}">
                <a16:creationId xmlns:a16="http://schemas.microsoft.com/office/drawing/2014/main" id="{5897704C-D70C-BF4D-300E-AFF54BF75A68}"/>
              </a:ext>
            </a:extLst>
          </p:cNvPr>
          <p:cNvSpPr/>
          <p:nvPr/>
        </p:nvSpPr>
        <p:spPr>
          <a:xfrm>
            <a:off x="1158695" y="3858790"/>
            <a:ext cx="809592" cy="3170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Yüksek</a:t>
            </a:r>
          </a:p>
        </p:txBody>
      </p:sp>
      <p:cxnSp>
        <p:nvCxnSpPr>
          <p:cNvPr id="692" name="Bağlayıcı: Dirsek 691">
            <a:extLst>
              <a:ext uri="{FF2B5EF4-FFF2-40B4-BE49-F238E27FC236}">
                <a16:creationId xmlns:a16="http://schemas.microsoft.com/office/drawing/2014/main" id="{54CED030-8610-3DA6-235F-BD187AFAC2A8}"/>
              </a:ext>
            </a:extLst>
          </p:cNvPr>
          <p:cNvCxnSpPr>
            <a:stCxn id="18" idx="2"/>
            <a:endCxn id="679" idx="0"/>
          </p:cNvCxnSpPr>
          <p:nvPr/>
        </p:nvCxnSpPr>
        <p:spPr>
          <a:xfrm rot="5400000">
            <a:off x="1090919" y="1627577"/>
            <a:ext cx="339592" cy="7411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Bağlayıcı: Dirsek 694">
            <a:extLst>
              <a:ext uri="{FF2B5EF4-FFF2-40B4-BE49-F238E27FC236}">
                <a16:creationId xmlns:a16="http://schemas.microsoft.com/office/drawing/2014/main" id="{34589FC3-10BC-2261-A536-470E5A7E01AC}"/>
              </a:ext>
            </a:extLst>
          </p:cNvPr>
          <p:cNvCxnSpPr>
            <a:stCxn id="18" idx="2"/>
            <a:endCxn id="680" idx="0"/>
          </p:cNvCxnSpPr>
          <p:nvPr/>
        </p:nvCxnSpPr>
        <p:spPr>
          <a:xfrm rot="16200000" flipH="1">
            <a:off x="1853209" y="1606395"/>
            <a:ext cx="335948" cy="7798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6" name="Dikdörtgen 695">
            <a:extLst>
              <a:ext uri="{FF2B5EF4-FFF2-40B4-BE49-F238E27FC236}">
                <a16:creationId xmlns:a16="http://schemas.microsoft.com/office/drawing/2014/main" id="{48922AF2-38D5-38C7-75A3-987979A2AE8F}"/>
              </a:ext>
            </a:extLst>
          </p:cNvPr>
          <p:cNvSpPr/>
          <p:nvPr/>
        </p:nvSpPr>
        <p:spPr>
          <a:xfrm>
            <a:off x="2006301" y="2667901"/>
            <a:ext cx="809592" cy="3170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Orta</a:t>
            </a:r>
          </a:p>
        </p:txBody>
      </p:sp>
      <p:cxnSp>
        <p:nvCxnSpPr>
          <p:cNvPr id="698" name="Düz Ok Bağlayıcısı 697">
            <a:extLst>
              <a:ext uri="{FF2B5EF4-FFF2-40B4-BE49-F238E27FC236}">
                <a16:creationId xmlns:a16="http://schemas.microsoft.com/office/drawing/2014/main" id="{CB7C3488-753F-81ED-8A93-33094048A793}"/>
              </a:ext>
            </a:extLst>
          </p:cNvPr>
          <p:cNvCxnSpPr>
            <a:stCxn id="680" idx="2"/>
            <a:endCxn id="696" idx="0"/>
          </p:cNvCxnSpPr>
          <p:nvPr/>
        </p:nvCxnSpPr>
        <p:spPr>
          <a:xfrm>
            <a:off x="2411097" y="2410504"/>
            <a:ext cx="0" cy="257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Düz Ok Bağlayıcısı 699">
            <a:extLst>
              <a:ext uri="{FF2B5EF4-FFF2-40B4-BE49-F238E27FC236}">
                <a16:creationId xmlns:a16="http://schemas.microsoft.com/office/drawing/2014/main" id="{5162544A-47DE-7FA5-F2ED-3B238FDA2EB9}"/>
              </a:ext>
            </a:extLst>
          </p:cNvPr>
          <p:cNvCxnSpPr>
            <a:stCxn id="679" idx="2"/>
            <a:endCxn id="688" idx="0"/>
          </p:cNvCxnSpPr>
          <p:nvPr/>
        </p:nvCxnSpPr>
        <p:spPr>
          <a:xfrm>
            <a:off x="890161" y="2414148"/>
            <a:ext cx="2228" cy="33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Bağlayıcı: Dirsek 701">
            <a:extLst>
              <a:ext uri="{FF2B5EF4-FFF2-40B4-BE49-F238E27FC236}">
                <a16:creationId xmlns:a16="http://schemas.microsoft.com/office/drawing/2014/main" id="{744667F6-D690-4B9D-E11E-B6DFE4820324}"/>
              </a:ext>
            </a:extLst>
          </p:cNvPr>
          <p:cNvCxnSpPr>
            <a:stCxn id="688" idx="2"/>
            <a:endCxn id="689" idx="0"/>
          </p:cNvCxnSpPr>
          <p:nvPr/>
        </p:nvCxnSpPr>
        <p:spPr>
          <a:xfrm rot="5400000">
            <a:off x="294216" y="3260617"/>
            <a:ext cx="789323" cy="4070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4" name="Bağlayıcı: Dirsek 703">
            <a:extLst>
              <a:ext uri="{FF2B5EF4-FFF2-40B4-BE49-F238E27FC236}">
                <a16:creationId xmlns:a16="http://schemas.microsoft.com/office/drawing/2014/main" id="{A75081FE-7FB9-66E7-60B8-CB4624A0A9A4}"/>
              </a:ext>
            </a:extLst>
          </p:cNvPr>
          <p:cNvCxnSpPr>
            <a:stCxn id="688" idx="2"/>
            <a:endCxn id="690" idx="0"/>
          </p:cNvCxnSpPr>
          <p:nvPr/>
        </p:nvCxnSpPr>
        <p:spPr>
          <a:xfrm rot="16200000" flipH="1">
            <a:off x="833279" y="3128578"/>
            <a:ext cx="789322" cy="6711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5" name="Dikdörtgen 704">
            <a:extLst>
              <a:ext uri="{FF2B5EF4-FFF2-40B4-BE49-F238E27FC236}">
                <a16:creationId xmlns:a16="http://schemas.microsoft.com/office/drawing/2014/main" id="{6C2576F8-4F20-AF2E-0403-A3B1BA090676}"/>
              </a:ext>
            </a:extLst>
          </p:cNvPr>
          <p:cNvSpPr/>
          <p:nvPr/>
        </p:nvSpPr>
        <p:spPr>
          <a:xfrm>
            <a:off x="3270974" y="2667901"/>
            <a:ext cx="809592" cy="3170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Yüksek</a:t>
            </a:r>
          </a:p>
        </p:txBody>
      </p:sp>
      <p:sp>
        <p:nvSpPr>
          <p:cNvPr id="706" name="Dikdörtgen 705">
            <a:extLst>
              <a:ext uri="{FF2B5EF4-FFF2-40B4-BE49-F238E27FC236}">
                <a16:creationId xmlns:a16="http://schemas.microsoft.com/office/drawing/2014/main" id="{06AFACFB-6019-9E1A-6347-95677B2BEB22}"/>
              </a:ext>
            </a:extLst>
          </p:cNvPr>
          <p:cNvSpPr/>
          <p:nvPr/>
        </p:nvSpPr>
        <p:spPr>
          <a:xfrm>
            <a:off x="4167202" y="2667900"/>
            <a:ext cx="809592" cy="3170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Düşük</a:t>
            </a:r>
          </a:p>
        </p:txBody>
      </p:sp>
      <p:sp>
        <p:nvSpPr>
          <p:cNvPr id="707" name="Dikdörtgen 706">
            <a:extLst>
              <a:ext uri="{FF2B5EF4-FFF2-40B4-BE49-F238E27FC236}">
                <a16:creationId xmlns:a16="http://schemas.microsoft.com/office/drawing/2014/main" id="{5C7CC07C-0CC1-AD03-BD21-4B89D514869E}"/>
              </a:ext>
            </a:extLst>
          </p:cNvPr>
          <p:cNvSpPr/>
          <p:nvPr/>
        </p:nvSpPr>
        <p:spPr>
          <a:xfrm>
            <a:off x="5197280" y="2658968"/>
            <a:ext cx="809592" cy="3170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Orta</a:t>
            </a:r>
          </a:p>
        </p:txBody>
      </p:sp>
      <p:cxnSp>
        <p:nvCxnSpPr>
          <p:cNvPr id="709" name="Bağlayıcı: Dirsek 708">
            <a:extLst>
              <a:ext uri="{FF2B5EF4-FFF2-40B4-BE49-F238E27FC236}">
                <a16:creationId xmlns:a16="http://schemas.microsoft.com/office/drawing/2014/main" id="{794377AA-6AD0-488C-3ECB-6C3574C89891}"/>
              </a:ext>
            </a:extLst>
          </p:cNvPr>
          <p:cNvCxnSpPr>
            <a:stCxn id="19" idx="2"/>
            <a:endCxn id="682" idx="0"/>
          </p:cNvCxnSpPr>
          <p:nvPr/>
        </p:nvCxnSpPr>
        <p:spPr>
          <a:xfrm rot="5400000">
            <a:off x="3947100" y="1544914"/>
            <a:ext cx="353570" cy="8962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1" name="Bağlayıcı: Dirsek 710">
            <a:extLst>
              <a:ext uri="{FF2B5EF4-FFF2-40B4-BE49-F238E27FC236}">
                <a16:creationId xmlns:a16="http://schemas.microsoft.com/office/drawing/2014/main" id="{DC3E80BB-0C46-61C2-6ED0-BC44D9658CE0}"/>
              </a:ext>
            </a:extLst>
          </p:cNvPr>
          <p:cNvCxnSpPr>
            <a:stCxn id="19" idx="2"/>
            <a:endCxn id="681" idx="0"/>
          </p:cNvCxnSpPr>
          <p:nvPr/>
        </p:nvCxnSpPr>
        <p:spPr>
          <a:xfrm rot="5400000">
            <a:off x="4397980" y="1990262"/>
            <a:ext cx="348039" cy="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3" name="Bağlayıcı: Dirsek 712">
            <a:extLst>
              <a:ext uri="{FF2B5EF4-FFF2-40B4-BE49-F238E27FC236}">
                <a16:creationId xmlns:a16="http://schemas.microsoft.com/office/drawing/2014/main" id="{A1D702D4-1A14-9DD0-D9D3-EB1CAB06A1FE}"/>
              </a:ext>
            </a:extLst>
          </p:cNvPr>
          <p:cNvCxnSpPr>
            <a:stCxn id="19" idx="2"/>
            <a:endCxn id="683" idx="0"/>
          </p:cNvCxnSpPr>
          <p:nvPr/>
        </p:nvCxnSpPr>
        <p:spPr>
          <a:xfrm rot="16200000" flipH="1">
            <a:off x="4910254" y="1477989"/>
            <a:ext cx="353569" cy="10300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5" name="Düz Ok Bağlayıcısı 714">
            <a:extLst>
              <a:ext uri="{FF2B5EF4-FFF2-40B4-BE49-F238E27FC236}">
                <a16:creationId xmlns:a16="http://schemas.microsoft.com/office/drawing/2014/main" id="{36644F3B-6A29-8001-1496-D29F6D13A84A}"/>
              </a:ext>
            </a:extLst>
          </p:cNvPr>
          <p:cNvCxnSpPr>
            <a:stCxn id="682" idx="2"/>
            <a:endCxn id="705" idx="0"/>
          </p:cNvCxnSpPr>
          <p:nvPr/>
        </p:nvCxnSpPr>
        <p:spPr>
          <a:xfrm>
            <a:off x="3675770" y="2416035"/>
            <a:ext cx="0" cy="251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Düz Ok Bağlayıcısı 717">
            <a:extLst>
              <a:ext uri="{FF2B5EF4-FFF2-40B4-BE49-F238E27FC236}">
                <a16:creationId xmlns:a16="http://schemas.microsoft.com/office/drawing/2014/main" id="{E460931F-84E4-5DD0-F176-774C1499A3F6}"/>
              </a:ext>
            </a:extLst>
          </p:cNvPr>
          <p:cNvCxnSpPr>
            <a:stCxn id="681" idx="2"/>
            <a:endCxn id="706" idx="0"/>
          </p:cNvCxnSpPr>
          <p:nvPr/>
        </p:nvCxnSpPr>
        <p:spPr>
          <a:xfrm>
            <a:off x="4571998" y="2410504"/>
            <a:ext cx="0" cy="25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1" name="Düz Ok Bağlayıcısı 720">
            <a:extLst>
              <a:ext uri="{FF2B5EF4-FFF2-40B4-BE49-F238E27FC236}">
                <a16:creationId xmlns:a16="http://schemas.microsoft.com/office/drawing/2014/main" id="{83DCE7E3-B824-27D7-C3AC-38BD8A75D63F}"/>
              </a:ext>
            </a:extLst>
          </p:cNvPr>
          <p:cNvCxnSpPr>
            <a:stCxn id="683" idx="2"/>
            <a:endCxn id="707" idx="0"/>
          </p:cNvCxnSpPr>
          <p:nvPr/>
        </p:nvCxnSpPr>
        <p:spPr>
          <a:xfrm flipH="1">
            <a:off x="5602076" y="2416034"/>
            <a:ext cx="1" cy="242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3" name="Metin kutusu 722">
            <a:extLst>
              <a:ext uri="{FF2B5EF4-FFF2-40B4-BE49-F238E27FC236}">
                <a16:creationId xmlns:a16="http://schemas.microsoft.com/office/drawing/2014/main" id="{7DCDE102-3E97-8A06-AF8B-E3D95DCF15C7}"/>
              </a:ext>
            </a:extLst>
          </p:cNvPr>
          <p:cNvSpPr txBox="1"/>
          <p:nvPr/>
        </p:nvSpPr>
        <p:spPr>
          <a:xfrm>
            <a:off x="6671044" y="2159901"/>
            <a:ext cx="4555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VAR</a:t>
            </a:r>
          </a:p>
        </p:txBody>
      </p:sp>
      <p:sp>
        <p:nvSpPr>
          <p:cNvPr id="724" name="Metin kutusu 723">
            <a:extLst>
              <a:ext uri="{FF2B5EF4-FFF2-40B4-BE49-F238E27FC236}">
                <a16:creationId xmlns:a16="http://schemas.microsoft.com/office/drawing/2014/main" id="{E2CC164E-2EDA-5C41-1D7E-A958F25AE90B}"/>
              </a:ext>
            </a:extLst>
          </p:cNvPr>
          <p:cNvSpPr txBox="1"/>
          <p:nvPr/>
        </p:nvSpPr>
        <p:spPr>
          <a:xfrm>
            <a:off x="8022846" y="2167927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dirty="0">
                <a:solidFill>
                  <a:srgbClr val="FF0000"/>
                </a:solidFill>
              </a:rPr>
              <a:t>YOK</a:t>
            </a:r>
          </a:p>
        </p:txBody>
      </p:sp>
      <p:sp>
        <p:nvSpPr>
          <p:cNvPr id="725" name="Dikdörtgen 724">
            <a:extLst>
              <a:ext uri="{FF2B5EF4-FFF2-40B4-BE49-F238E27FC236}">
                <a16:creationId xmlns:a16="http://schemas.microsoft.com/office/drawing/2014/main" id="{3BE6A0AC-F286-F299-3BAF-9D6CE134D436}"/>
              </a:ext>
            </a:extLst>
          </p:cNvPr>
          <p:cNvSpPr/>
          <p:nvPr/>
        </p:nvSpPr>
        <p:spPr>
          <a:xfrm>
            <a:off x="6494035" y="2657410"/>
            <a:ext cx="809592" cy="3170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Yüksek</a:t>
            </a:r>
          </a:p>
        </p:txBody>
      </p:sp>
      <p:sp>
        <p:nvSpPr>
          <p:cNvPr id="726" name="Dikdörtgen 725">
            <a:extLst>
              <a:ext uri="{FF2B5EF4-FFF2-40B4-BE49-F238E27FC236}">
                <a16:creationId xmlns:a16="http://schemas.microsoft.com/office/drawing/2014/main" id="{5B85F027-997D-D017-EFB2-3C56D3855594}"/>
              </a:ext>
            </a:extLst>
          </p:cNvPr>
          <p:cNvSpPr/>
          <p:nvPr/>
        </p:nvSpPr>
        <p:spPr>
          <a:xfrm>
            <a:off x="7849043" y="2638760"/>
            <a:ext cx="809592" cy="3170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tx1"/>
                </a:solidFill>
              </a:rPr>
              <a:t>Yüksek</a:t>
            </a:r>
          </a:p>
        </p:txBody>
      </p:sp>
      <p:cxnSp>
        <p:nvCxnSpPr>
          <p:cNvPr id="729" name="Bağlayıcı: Dirsek 728">
            <a:extLst>
              <a:ext uri="{FF2B5EF4-FFF2-40B4-BE49-F238E27FC236}">
                <a16:creationId xmlns:a16="http://schemas.microsoft.com/office/drawing/2014/main" id="{CED96E75-94D5-4A13-441B-AD63694713C5}"/>
              </a:ext>
            </a:extLst>
          </p:cNvPr>
          <p:cNvCxnSpPr>
            <a:stCxn id="20" idx="2"/>
            <a:endCxn id="723" idx="0"/>
          </p:cNvCxnSpPr>
          <p:nvPr/>
        </p:nvCxnSpPr>
        <p:spPr>
          <a:xfrm rot="5400000">
            <a:off x="7071156" y="1656011"/>
            <a:ext cx="331565" cy="6762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1" name="Bağlayıcı: Dirsek 730">
            <a:extLst>
              <a:ext uri="{FF2B5EF4-FFF2-40B4-BE49-F238E27FC236}">
                <a16:creationId xmlns:a16="http://schemas.microsoft.com/office/drawing/2014/main" id="{F04D0869-E279-2CA3-E9B5-CFC987BEBA4F}"/>
              </a:ext>
            </a:extLst>
          </p:cNvPr>
          <p:cNvCxnSpPr>
            <a:stCxn id="20" idx="2"/>
            <a:endCxn id="724" idx="0"/>
          </p:cNvCxnSpPr>
          <p:nvPr/>
        </p:nvCxnSpPr>
        <p:spPr>
          <a:xfrm rot="16200000" flipH="1">
            <a:off x="7744647" y="1658734"/>
            <a:ext cx="339591" cy="6787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8" name="Düz Ok Bağlayıcısı 737">
            <a:extLst>
              <a:ext uri="{FF2B5EF4-FFF2-40B4-BE49-F238E27FC236}">
                <a16:creationId xmlns:a16="http://schemas.microsoft.com/office/drawing/2014/main" id="{39B45673-A6F6-0761-11BC-DB838588C220}"/>
              </a:ext>
            </a:extLst>
          </p:cNvPr>
          <p:cNvCxnSpPr>
            <a:stCxn id="723" idx="2"/>
            <a:endCxn id="725" idx="0"/>
          </p:cNvCxnSpPr>
          <p:nvPr/>
        </p:nvCxnSpPr>
        <p:spPr>
          <a:xfrm>
            <a:off x="6898831" y="2406122"/>
            <a:ext cx="0" cy="251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0" name="Düz Ok Bağlayıcısı 739">
            <a:extLst>
              <a:ext uri="{FF2B5EF4-FFF2-40B4-BE49-F238E27FC236}">
                <a16:creationId xmlns:a16="http://schemas.microsoft.com/office/drawing/2014/main" id="{756CF726-AA70-5FC9-F577-7CEFB973BCA9}"/>
              </a:ext>
            </a:extLst>
          </p:cNvPr>
          <p:cNvCxnSpPr>
            <a:stCxn id="724" idx="2"/>
            <a:endCxn id="726" idx="0"/>
          </p:cNvCxnSpPr>
          <p:nvPr/>
        </p:nvCxnSpPr>
        <p:spPr>
          <a:xfrm>
            <a:off x="8253839" y="2414148"/>
            <a:ext cx="0" cy="224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494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0"/>
          <p:cNvSpPr txBox="1">
            <a:spLocks noGrp="1"/>
          </p:cNvSpPr>
          <p:nvPr>
            <p:ph type="title"/>
          </p:nvPr>
        </p:nvSpPr>
        <p:spPr>
          <a:xfrm>
            <a:off x="1812228" y="604750"/>
            <a:ext cx="5563217" cy="22739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Ders Sonu</a:t>
            </a:r>
            <a:r>
              <a:rPr lang="en" dirty="0"/>
              <a:t>!</a:t>
            </a:r>
            <a:endParaRPr dirty="0"/>
          </a:p>
        </p:txBody>
      </p:sp>
      <p:sp>
        <p:nvSpPr>
          <p:cNvPr id="1035" name="Google Shape;1035;p40"/>
          <p:cNvSpPr txBox="1">
            <a:spLocks noGrp="1"/>
          </p:cNvSpPr>
          <p:nvPr>
            <p:ph type="subTitle" idx="1"/>
          </p:nvPr>
        </p:nvSpPr>
        <p:spPr>
          <a:xfrm>
            <a:off x="802526" y="2208257"/>
            <a:ext cx="7277952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endParaRPr lang="tr-TR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/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Ödevinizi göndermeyi unutmayınız!</a:t>
            </a:r>
          </a:p>
        </p:txBody>
      </p:sp>
      <p:grpSp>
        <p:nvGrpSpPr>
          <p:cNvPr id="1036" name="Google Shape;1036;p40"/>
          <p:cNvGrpSpPr/>
          <p:nvPr/>
        </p:nvGrpSpPr>
        <p:grpSpPr>
          <a:xfrm>
            <a:off x="713225" y="539500"/>
            <a:ext cx="1009703" cy="130500"/>
            <a:chOff x="5461400" y="616025"/>
            <a:chExt cx="1009703" cy="130500"/>
          </a:xfrm>
        </p:grpSpPr>
        <p:sp>
          <p:nvSpPr>
            <p:cNvPr id="1037" name="Google Shape;1037;p4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2" name="Google Shape;1042;p40"/>
          <p:cNvGrpSpPr/>
          <p:nvPr/>
        </p:nvGrpSpPr>
        <p:grpSpPr>
          <a:xfrm>
            <a:off x="7421075" y="4473500"/>
            <a:ext cx="1009703" cy="130500"/>
            <a:chOff x="5461400" y="616025"/>
            <a:chExt cx="1009703" cy="130500"/>
          </a:xfrm>
        </p:grpSpPr>
        <p:sp>
          <p:nvSpPr>
            <p:cNvPr id="1043" name="Google Shape;1043;p4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Resim 1" descr="logo, amblem, simge, sembol, ticari marka içeren bir resim&#10;&#10;Açıklama otomatik olarak oluşturuldu">
            <a:extLst>
              <a:ext uri="{FF2B5EF4-FFF2-40B4-BE49-F238E27FC236}">
                <a16:creationId xmlns:a16="http://schemas.microsoft.com/office/drawing/2014/main" id="{FAF5EF97-647E-374D-E177-EC0516328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994" y="-28411"/>
            <a:ext cx="1031509" cy="729231"/>
          </a:xfrm>
          <a:prstGeom prst="rect">
            <a:avLst/>
          </a:prstGeom>
        </p:spPr>
      </p:pic>
      <p:sp>
        <p:nvSpPr>
          <p:cNvPr id="3" name="Google Shape;670;p39">
            <a:extLst>
              <a:ext uri="{FF2B5EF4-FFF2-40B4-BE49-F238E27FC236}">
                <a16:creationId xmlns:a16="http://schemas.microsoft.com/office/drawing/2014/main" id="{A1F91FF2-FB00-51A9-F810-F9F48B64C156}"/>
              </a:ext>
            </a:extLst>
          </p:cNvPr>
          <p:cNvSpPr txBox="1">
            <a:spLocks/>
          </p:cNvSpPr>
          <p:nvPr/>
        </p:nvSpPr>
        <p:spPr>
          <a:xfrm>
            <a:off x="2258810" y="4957361"/>
            <a:ext cx="4626379" cy="18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0" i="0" u="none" strike="noStrike" cap="none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tr-TR" sz="700" b="1" dirty="0">
                <a:solidFill>
                  <a:schemeClr val="accent1"/>
                </a:solidFill>
                <a:latin typeface="Maven Pro" panose="020B0604020202020204" charset="-94"/>
              </a:rPr>
              <a:t>Dr. Öğr. Üyesi Fatih BAL | Kırklareli Üniversitesi | Yazılım Mühendisliği Bölümü | Derin Öğrenme | 2025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l About Artificial Intelligence by Slidesgo">
  <a:themeElements>
    <a:clrScheme name="Simple Light">
      <a:dk1>
        <a:srgbClr val="181818"/>
      </a:dk1>
      <a:lt1>
        <a:srgbClr val="F3F3F3"/>
      </a:lt1>
      <a:dk2>
        <a:srgbClr val="3D3D3B"/>
      </a:dk2>
      <a:lt2>
        <a:srgbClr val="C1C1C1"/>
      </a:lt2>
      <a:accent1>
        <a:srgbClr val="5D65BB"/>
      </a:accent1>
      <a:accent2>
        <a:srgbClr val="707BE0"/>
      </a:accent2>
      <a:accent3>
        <a:srgbClr val="BCC1E6"/>
      </a:accent3>
      <a:accent4>
        <a:srgbClr val="FFFFFF"/>
      </a:accent4>
      <a:accent5>
        <a:srgbClr val="FFFFFF"/>
      </a:accent5>
      <a:accent6>
        <a:srgbClr val="FFFFFF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1071</Words>
  <Application>Microsoft Office PowerPoint</Application>
  <PresentationFormat>Ekran Gösterisi (16:9)</PresentationFormat>
  <Paragraphs>160</Paragraphs>
  <Slides>22</Slides>
  <Notes>22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31" baseType="lpstr">
      <vt:lpstr>Maven Pro</vt:lpstr>
      <vt:lpstr>Wingdings</vt:lpstr>
      <vt:lpstr>Arial</vt:lpstr>
      <vt:lpstr>DM Sans</vt:lpstr>
      <vt:lpstr>Calibri</vt:lpstr>
      <vt:lpstr>Anaheim</vt:lpstr>
      <vt:lpstr>MuseoModerno Medium</vt:lpstr>
      <vt:lpstr>Cambria Math</vt:lpstr>
      <vt:lpstr>All About Artificial Intelligence by Slidesgo</vt:lpstr>
      <vt:lpstr>Decision Tree (Örnek 2)</vt:lpstr>
      <vt:lpstr>PowerPoint Sunusu</vt:lpstr>
      <vt:lpstr>I. AŞAMA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II. AŞAMA</vt:lpstr>
      <vt:lpstr>PowerPoint Sunusu</vt:lpstr>
      <vt:lpstr>PowerPoint Sunusu</vt:lpstr>
      <vt:lpstr>PowerPoint Sunusu</vt:lpstr>
      <vt:lpstr>PowerPoint Sunusu</vt:lpstr>
      <vt:lpstr>PowerPoint Sunusu</vt:lpstr>
      <vt:lpstr>Ders Sonu!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FATİH BAL</cp:lastModifiedBy>
  <cp:revision>168</cp:revision>
  <dcterms:modified xsi:type="dcterms:W3CDTF">2025-09-29T07:32:35Z</dcterms:modified>
</cp:coreProperties>
</file>